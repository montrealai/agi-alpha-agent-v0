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36"/>
    <p:restoredTop sz="94610"/>
  </p:normalViewPr>
  <p:slideViewPr>
    <p:cSldViewPr snapToGrid="0" snapToObjects="1">
      <p:cViewPr varScale="1">
        <p:scale>
          <a:sx n="188" d="100"/>
          <a:sy n="188" d="100"/>
        </p:scale>
        <p:origin x="9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959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i_deck_assets_small/bg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8D">
              <a:alpha val="85000"/>
            </a:srgbClr>
          </a:solidFill>
          <a:ln w="12700">
            <a:solidFill>
              <a:srgbClr val="FF2D8D">
                <a:alpha val="0"/>
              </a:srgbClr>
            </a:solidFill>
            <a:prstDash val="solid"/>
          </a:ln>
        </p:spPr>
        <p:txBody>
          <a:bodyPr wrap="square" lIns="127000" tIns="101600" rIns="127000" bIns="101600">
            <a:normAutofit fontScale="25000" lnSpcReduction="20000"/>
          </a:bodyPr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713232" y="1051560"/>
            <a:ext cx="10765231" cy="2788920"/>
          </a:xfrm>
          <a:prstGeom prst="roundRect">
            <a:avLst/>
          </a:prstGeom>
          <a:solidFill>
            <a:srgbClr val="0A0412">
              <a:alpha val="82000"/>
            </a:srgbClr>
          </a:solidFill>
          <a:ln w="12700">
            <a:solidFill>
              <a:srgbClr val="2B123B">
                <a:alpha val="4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 wrap="square" lIns="127000" tIns="101600" rIns="127000" bIns="101600">
            <a:normAutofit/>
          </a:bodyPr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877824" y="1234440"/>
            <a:ext cx="73152" cy="2423160"/>
          </a:xfrm>
          <a:prstGeom prst="roundRect">
            <a:avLst/>
          </a:prstGeom>
          <a:solidFill>
            <a:srgbClr val="B61CFF"/>
          </a:solidFill>
          <a:ln w="12700">
            <a:solidFill>
              <a:srgbClr val="B61CFF">
                <a:alpha val="0"/>
              </a:srgbClr>
            </a:solidFill>
            <a:prstDash val="solid"/>
          </a:ln>
        </p:spPr>
        <p:txBody>
          <a:bodyPr wrap="square" lIns="127000" tIns="101600" rIns="127000" bIns="101600">
            <a:normAutofit/>
          </a:bodyPr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60704" y="1170432"/>
            <a:ext cx="10216591" cy="822960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7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α‑AGI GOVERNANCE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060704" y="2066544"/>
            <a:ext cx="10216591" cy="384048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DB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Conditions for Stable, Antifragile Multi‑Agent Order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0704" y="2450592"/>
            <a:ext cx="5943600" cy="320040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MASTER PRESENTATION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907792"/>
            <a:ext cx="10216591" cy="365760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6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Boucher · President, MONTREAL.AI · QUEBEC.AI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6172200"/>
            <a:ext cx="5303520" cy="320040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DB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$AGIALPHA — utility token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74943" y="6172200"/>
            <a:ext cx="5303520" cy="320040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DB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alpha_factory_v1 · demos/solving_agi_governance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10A">
              <a:alpha val="65000"/>
            </a:srgbClr>
          </a:solidFill>
          <a:ln w="12700">
            <a:solidFill>
              <a:srgbClr val="07010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13232" y="1874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α‑AGI GOVERNANCE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13232" y="256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Conditions for Stable, Antifragile Multi‑Agent Order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13232" y="5532120"/>
            <a:ext cx="5394960" cy="86868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C20B5A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6112" y="56144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" y="583387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Boucher — President, MONTREAL.AI · QUEBEC.AI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49640" y="5824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minimal conditions to operational deployment.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25196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51560" y="2240280"/>
            <a:ext cx="1024128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abstract: one primitive ($AGIALPHA) + on‑chain physics → single cooperative macro‑equilibrium.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Minimal conditions: stake sₖ &gt; 0 and discount factor δ ≥ 0.8.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Mechanism stack: Incentive · Safety · Governance (quadratic voting + time‑locks).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theorems: uniqueness (Nash + ESS), Stackelberg‑safe payoffs, antifragility tensor.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Hamiltonian: stability as a stationary point in a global energy landscape.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execution: CLI simulator, interactive Colab notebook, optional OpenAI Agents + ADK bridge.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ABSTRACT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Abstract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mechanism designed as physics.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25196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224028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permissionless swarm of autonomous α‑AGI Businesses can be driven toward a single, efficient macro‑equilibrium by coupling provably‑safe game‑theoretic incentives to on‑chain physics.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05840" y="3520440"/>
            <a:ext cx="10332720" cy="0"/>
          </a:xfrm>
          <a:prstGeom prst="line">
            <a:avLst/>
          </a:prstGeom>
          <a:noFill/>
          <a:ln w="25400">
            <a:solidFill>
              <a:srgbClr val="C20B5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5840" y="3703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D7C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primitive is the strictly‑utility token $AGIALPHA.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1005840" y="4434840"/>
            <a:ext cx="10332720" cy="1828800"/>
          </a:xfrm>
          <a:prstGeom prst="roundRect">
            <a:avLst/>
          </a:prstGeom>
          <a:solidFill>
            <a:srgbClr val="120016">
              <a:alpha val="80000"/>
            </a:srgbClr>
          </a:solidFill>
          <a:ln w="12700">
            <a:solidFill>
              <a:srgbClr val="2A0B3A">
                <a:alpha val="4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25880" y="4663440"/>
            <a:ext cx="978408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Stake‑weighted participation creates skin‑in‑the‑game for every agent.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Slashing + formal envelopes enforce hard constraints (boundary conditions).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curvature is matched to incentive slope, keeping the system on the Pareto frontier.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CLAIM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Conditions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cooperative fixed‑point becomes inevitable.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534924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217627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5146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agent stakes:  sₖ &gt; 0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Agents value the future:  δ ≥ 0.8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Rewards are minted/burned for provable α‑extraction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Violations trigger deterministic slashing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63640" y="1965960"/>
            <a:ext cx="539496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0" y="21762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0" y="251460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i="1" dirty="0">
                <a:solidFill>
                  <a:srgbClr val="D7C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“All Nash equilibria collapse into one cooperative fixed‑point on the Pareto frontier while net energy dissipation approaches the Landauer bound.”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583680" y="4434840"/>
            <a:ext cx="4800600" cy="187452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C20B5A">
                <a:alpha val="6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12280" y="4590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Monte‑Carlo confirmation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12280" y="486460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6,000,000 rounds · N = 10⁴ agents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 ± 1.7 %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 Stack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equilibrium.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331720"/>
            <a:ext cx="10515600" cy="621792"/>
          </a:xfrm>
          <a:prstGeom prst="roundRect">
            <a:avLst/>
          </a:prstGeom>
          <a:solidFill>
            <a:srgbClr val="2A1436">
              <a:alpha val="85000"/>
            </a:srgbClr>
          </a:solidFill>
          <a:ln w="12700">
            <a:solidFill>
              <a:srgbClr val="2A0B3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51560" y="24505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063240" y="24505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732520" y="2450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primitive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2953512"/>
            <a:ext cx="10515600" cy="621792"/>
          </a:xfrm>
          <a:prstGeom prst="roundRect">
            <a:avLst/>
          </a:prstGeom>
          <a:solidFill>
            <a:srgbClr val="120016">
              <a:alpha val="80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51560" y="3063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063240" y="30632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Mint/burn $AGIALPHA for provable α‑extraction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3252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sₖ · slash on violation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14400" y="3621024"/>
            <a:ext cx="10515600" cy="621792"/>
          </a:xfrm>
          <a:prstGeom prst="roundRect">
            <a:avLst/>
          </a:prstGeom>
          <a:solidFill>
            <a:srgbClr val="120016">
              <a:alpha val="80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51560" y="3730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063240" y="373075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envelopes, red‑team fuzzing, Coq‑verified actuators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732520" y="37307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&lt; 10⁻⁹ / action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14400" y="4288536"/>
            <a:ext cx="10515600" cy="621792"/>
          </a:xfrm>
          <a:prstGeom prst="roundRect">
            <a:avLst/>
          </a:prstGeom>
          <a:solidFill>
            <a:srgbClr val="120016">
              <a:alpha val="80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51560" y="4398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063240" y="439826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voting, time‑locked upgrades, adaptive oracles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732520" y="43982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curvature ≈ incentive slope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1440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encode constraints as immutable “boundary conditions”, then let incentives do the work.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Theorems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&amp; fuzz‑checked.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331720"/>
            <a:ext cx="3383280" cy="384048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C20B5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43000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Existence + Uniqueness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143000" y="3154680"/>
            <a:ext cx="2926080" cy="0"/>
          </a:xfrm>
          <a:prstGeom prst="line">
            <a:avLst/>
          </a:prstGeom>
          <a:noFill/>
          <a:ln w="25400">
            <a:solidFill>
              <a:srgbClr val="C20B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43000" y="32918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Token‑weighted stake manifold yields a single Nash + ESS equilibrium when δ &gt; 0.8.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480560" y="2331720"/>
            <a:ext cx="3383280" cy="384048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C20B5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09160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Stackelberg‑Safe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709160" y="3154680"/>
            <a:ext cx="2926080" cy="0"/>
          </a:xfrm>
          <a:prstGeom prst="line">
            <a:avLst/>
          </a:prstGeom>
          <a:noFill/>
          <a:ln w="25400">
            <a:solidFill>
              <a:srgbClr val="C20B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09160" y="32918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pay‑off ≤ ¾ · Vₘₐₓ; quadratic voting removes spectral monopolies.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046720" y="2331720"/>
            <a:ext cx="3383280" cy="384048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C20B5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Antifragility Tensor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8275320" y="3154680"/>
            <a:ext cx="2926080" cy="0"/>
          </a:xfrm>
          <a:prstGeom prst="line">
            <a:avLst/>
          </a:prstGeom>
          <a:noFill/>
          <a:ln w="25400">
            <a:solidFill>
              <a:srgbClr val="C20B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75320" y="32918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∂²W/∂σ² &gt; 0 ⇒ collective welfare rises with adversarial variance.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14400" y="605332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 game’s equilibrium is not merely stable — it is evolutionarily stable under perturbation.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Hamiltonian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way to reason about stability, conserved flows, and policy gradients.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644652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60920" y="1965960"/>
            <a:ext cx="429768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0120" y="217627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35240" y="21762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97280" y="2788920"/>
            <a:ext cx="5897880" cy="2148840"/>
          </a:xfrm>
          <a:prstGeom prst="roundRect">
            <a:avLst/>
          </a:prstGeom>
          <a:solidFill>
            <a:srgbClr val="120016">
              <a:alpha val="90000"/>
            </a:srgbClr>
          </a:solidFill>
          <a:ln w="25400">
            <a:solidFill>
              <a:srgbClr val="C20B5A">
                <a:alpha val="85000"/>
              </a:srgbClr>
            </a:solidFill>
            <a:prstDash val="solid"/>
          </a:ln>
          <a:effectLst>
            <a:outerShdw blurRad="76200" dist="12700" dir="2700000" algn="bl" rotWithShape="0">
              <a:srgbClr val="C20B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97280" y="5166360"/>
            <a:ext cx="5897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resource flow  ⟺  total utility conservation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635240" y="2560320"/>
            <a:ext cx="3749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Equilibrium is a stationary point of the mechanism’s global energy landscape.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∑ᵢ ∇Uᵢ = 0 means policy gradients cancel: no unilateral incentive to deviate.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On‑chain rules play the role of boundary conditions (hard constraints).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Free‑energy intuition: designs that reduce coordination waste dominate over time.</a:t>
            </a:r>
            <a:endParaRPr lang="en-US" sz="1800" dirty="0"/>
          </a:p>
        </p:txBody>
      </p:sp>
      <p:pic>
        <p:nvPicPr>
          <p:cNvPr id="19" name="Picture 18" descr="eq_hamiltonian_g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108960"/>
            <a:ext cx="544068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Benchmarks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speed scales to N = 10⁴ agents.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377440"/>
            <a:ext cx="10515600" cy="594360"/>
          </a:xfrm>
          <a:prstGeom prst="roundRect">
            <a:avLst/>
          </a:prstGeom>
          <a:solidFill>
            <a:srgbClr val="2A1436">
              <a:alpha val="85000"/>
            </a:srgbClr>
          </a:solidFill>
          <a:ln w="12700">
            <a:solidFill>
              <a:srgbClr val="2A0B3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51560" y="2487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977640" y="24871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06440" y="24871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rounds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915400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(pay‑off)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14400" y="2971800"/>
            <a:ext cx="10515600" cy="59436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51560" y="3081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Symmetric pilot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977640" y="30815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06440" y="3081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915400" y="3081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14400" y="3611880"/>
            <a:ext cx="10515600" cy="59436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51560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Mid‑scale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977640" y="372160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10²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806440" y="37216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400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915400" y="3721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14400" y="4251960"/>
            <a:ext cx="10515600" cy="59436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051560" y="43616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Full‑scale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977640" y="43616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10⁴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806440" y="43616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6,000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915400" y="4361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914400" y="4983480"/>
            <a:ext cx="10515600" cy="132588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C20B5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143000" y="5257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as N grows, pay‑off variance σ decreases, suggesting smoother macro‑behavior under scale.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Checklist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demo becomes deployable infrastructure.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240280"/>
            <a:ext cx="10515600" cy="841248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43000" y="23682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43000" y="259689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≥ 1% circulating $AGIALPHA staked per new agent.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14400" y="3191256"/>
            <a:ext cx="10515600" cy="841248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43000" y="33192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43000" y="354787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on‑chain actuator ships a Coq certificate + policy hash.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14400" y="4142232"/>
            <a:ext cx="10515600" cy="841248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43000" y="42702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3000" y="44988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 track α‑yield, stake‑at‑risk, entropy flux.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14400" y="5093208"/>
            <a:ext cx="10515600" cy="841248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43000" y="522122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PATH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43000" y="5449824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7‑day time‑lock; red‑team fuzz oracle can auto‑rollback on anomaly.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Unknowns &amp; Mitigations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uncertainty before it arrives.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377440"/>
            <a:ext cx="10515600" cy="685800"/>
          </a:xfrm>
          <a:prstGeom prst="roundRect">
            <a:avLst/>
          </a:prstGeom>
          <a:solidFill>
            <a:srgbClr val="2A1436">
              <a:alpha val="85000"/>
            </a:srgbClr>
          </a:solidFill>
          <a:ln w="12700">
            <a:solidFill>
              <a:srgbClr val="2A0B3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51560" y="25328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86200" y="25328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20840" y="25328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3063240"/>
            <a:ext cx="10515600" cy="68580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51560" y="3227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entropy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886200" y="3227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 inflation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20840" y="32278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stake floor ∝ √N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14400" y="3803904"/>
            <a:ext cx="10515600" cy="68580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51560" y="39684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phase shift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886200" y="39684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collision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720840" y="39684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On‑chain “safe‑harbour” escrow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14400" y="4544568"/>
            <a:ext cx="10515600" cy="68580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51560" y="4709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Long‑horizon token velocity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886200" y="4709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shock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720840" y="4709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Treasury‑governed AMM damping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14400" y="6080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stance: treat each uncertainty as a phase transition; encode graceful degradation paths in advance.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Notebook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End‑to‑end demo in Google Colab.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377440"/>
            <a:ext cx="10515600" cy="201168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34440" y="2606040"/>
            <a:ext cx="9966960" cy="16916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Colab notebook installs the package, runs a quick simulation, and visualizes how cooperation varies with the discount factor δ.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colab_solving_agi_governance.ipynb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numpy + matplotlib for plotting.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4617720"/>
            <a:ext cx="10515600" cy="178308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C20B5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43000" y="4800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launch (path)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43000" y="5102352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7C8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https://colab.research.google.com/github/MontrealAI/AGI-Alpha-Agent-v0/blob/main/alpha_factory_v1/demos/solving_agi_governance/colab_solving_agi_governance.ipynb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Demo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Monte‑Carlo simulator with no third‑party dependencies.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331720"/>
            <a:ext cx="5349240" cy="402336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37960" y="2331720"/>
            <a:ext cx="4892040" cy="402336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C20B5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43000" y="2560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3000" y="28803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3.11–3.13 (&lt;3.14)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 works offline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--seed for determinism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766560" y="2560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command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66560" y="2926080"/>
            <a:ext cx="4480560" cy="731520"/>
          </a:xfrm>
          <a:prstGeom prst="rect">
            <a:avLst/>
          </a:prstGeom>
          <a:solidFill>
            <a:srgbClr val="120016">
              <a:alpha val="88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C8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governance-sim --agents 1000 --rounds 6000 --delta 0.8 --seed 42 --verbose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66560" y="3794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mean cooperation rate after the simulated rounds, illustrating convergence toward the cooperative fixed‑point when δ ≥ 0.8.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66560" y="50749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--verbose shows progress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--summary generates a recap (Agents SDK optional)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fallback works without network access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Natural‑Language Summary Mode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OpenAI Agents SDK integration; offline fallback included.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377440"/>
            <a:ext cx="10515600" cy="173736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C20B5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43000" y="2697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governance-sim --agents 500 --summary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14400" y="4343400"/>
            <a:ext cx="10515600" cy="205740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43000" y="46177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openai‑agents is installed and OPENAI_API_KEY is set, the simulator can generate a concise narrative recap.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network access, the demo falls back to a deterministic local summary string.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Agents Bridge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GovernanceSimAgent via Agents runtime; optionally federate via ADK.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331720"/>
            <a:ext cx="5349240" cy="4023360"/>
          </a:xfrm>
          <a:prstGeom prst="roundRect">
            <a:avLst/>
          </a:prstGeom>
          <a:solidFill>
            <a:srgbClr val="120016">
              <a:alpha val="78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37960" y="2331720"/>
            <a:ext cx="4892040" cy="402336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C20B5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43000" y="2560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3000" y="28803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7C8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alpha_factory_v1/demos/solving_agi_governance/requirements.txt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66560" y="2560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66560" y="2880360"/>
            <a:ext cx="4480560" cy="1188720"/>
          </a:xfrm>
          <a:prstGeom prst="rect">
            <a:avLst/>
          </a:prstGeom>
          <a:solidFill>
            <a:srgbClr val="120016">
              <a:alpha val="88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7C8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OPENAI_API_KEY=sk‑…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C8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ALPHA_FACTORY_ENABLE_ADK=true  # optional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C8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governance-bridge --enable-adk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66560" y="416052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Registers GovernanceSimAgent with the Agents runtime.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google‑adk is available, also exposes the simulator over the A2A protocol.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packages are missing, the bridge warns and runs the local simulator instead.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43000" y="3840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 accepts: -N · -r · --delta · --stake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43000" y="4206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C8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governance-bridge --port 5005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Effect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Autopoiesis: a self‑refining alpha‑field.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7032" y="6601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233172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inefficiency touched by the swarm is converted into lasting, compounding value — while the system learns from stress, grows safer, and compounds returns for all stakeholders.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1005840" y="4434840"/>
            <a:ext cx="10332720" cy="1965960"/>
          </a:xfrm>
          <a:prstGeom prst="roundRect">
            <a:avLst/>
          </a:prstGeom>
          <a:solidFill>
            <a:srgbClr val="120016">
              <a:alpha val="82000"/>
            </a:srgbClr>
          </a:solidFill>
          <a:ln w="12700">
            <a:solidFill>
              <a:srgbClr val="C20B5A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34440" y="48920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7C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$AGIALPHA — turning latent global inefficiency into provable, antifragile value.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as a convergent, compute‑backed equilibrium.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242316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do not “control” agents — we engineer the incentive landscape they cannot profitably escape.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encode hard constraints as boundary conditions (formal proofs, slashing, time‑locks).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validate convergence empirically (Monte‑Carlo) and operationally (CLI + bridge).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005840" y="4526280"/>
            <a:ext cx="10332720" cy="178308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3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34440" y="48920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7C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run the simulator, vary δ, and observe the phase transition into cooperation.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&amp; parameters.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233172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sₖ : stake posted by agent k (skin‑in‑the‑game)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   : discount factor (patience / long‑horizon incentive)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Uᵢ(x) : utility of agent i over state x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 : pay‑off variance (volatility across agents)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 : collective welfare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Antifragility tensor (intuition):  ∂²W/∂σ² &gt; 0  ⇒ welfare increases with adversarial variance.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0B5A"/>
          </a:solidFill>
          <a:ln w="12700">
            <a:solidFill>
              <a:srgbClr val="C20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201168"/>
            <a:ext cx="2377440" cy="310896"/>
          </a:xfrm>
          <a:prstGeom prst="roundRect">
            <a:avLst/>
          </a:prstGeom>
          <a:solidFill>
            <a:srgbClr val="2A1436">
              <a:alpha val="75000"/>
            </a:srgbClr>
          </a:solidFill>
          <a:ln w="12700">
            <a:solidFill>
              <a:srgbClr val="2A0B3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103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Disclaimer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use.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6565392"/>
            <a:ext cx="10817352" cy="0"/>
          </a:xfrm>
          <a:prstGeom prst="line">
            <a:avLst/>
          </a:prstGeom>
          <a:noFill/>
          <a:ln w="12700">
            <a:solidFill>
              <a:srgbClr val="2A0B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66019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v1 · Solving α‑AGI Governance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" y="1965960"/>
            <a:ext cx="10972800" cy="4434840"/>
          </a:xfrm>
          <a:prstGeom prst="roundRect">
            <a:avLst/>
          </a:prstGeom>
          <a:solidFill>
            <a:srgbClr val="0E0014">
              <a:alpha val="86000"/>
            </a:srgbClr>
          </a:solidFill>
          <a:ln w="12700">
            <a:solidFill>
              <a:srgbClr val="2A0B3A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242316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repository is a conceptual research prototype.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References to “AGI” and “superintelligence” describe aspirational goals and do not indicate the presence of a real general intelligence.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at your own risk. Nothing herein constitutes financial advice.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8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MontrealAI and the maintainers accept no liability for losses incurred from using this software.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05840" y="5532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demo package exposes its own __version__ constant; the value reflects the demo revision only.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1760</Words>
  <Application>Microsoft Macintosh PowerPoint</Application>
  <PresentationFormat>Widescreen</PresentationFormat>
  <Paragraphs>248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Vincent Boucher</cp:lastModifiedBy>
  <cp:revision>2</cp:revision>
  <dcterms:created xsi:type="dcterms:W3CDTF">2026-01-10T15:06:12Z</dcterms:created>
  <dcterms:modified xsi:type="dcterms:W3CDTF">2026-01-10T16:06:44Z</dcterms:modified>
</cp:coreProperties>
</file>