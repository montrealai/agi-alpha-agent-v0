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0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2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6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Mission framing and α‑AGI Business wording surfaced via: https://www.mcp.pizza/mcp-client/i6V8/AGI-Alpha-Agent-v0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Gibbs free energy relationship (G = H − TS): https://chem.libretexts.org/Bookshelves/Physical_and_Theoretical_Chemistry_Textbook_Maps/Supplemental_Modules_%28Physical_and_Theoretical_Chemistry%29/Thermodynamics/Energies_and_Potentials/Free_Energy/Gibbs_%28Free%29_Energy
- Additional reference: https://chemed.chem.purdue.edu/genchem/topicreview/bp/ch21/gibbs.php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α‑AGI Business definition and mission surfaced via: https://www.mcp.pizza/mcp-client/i6V8/AGI-Alpha-Agent-v0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Autopoiesis introduced by Maturana &amp; Varela (1972), overview: https://en.wikipedia.org/wiki/Autopoiesis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PARTS framework (players, added values, rules, tactics, scope) in “The Right Game”: https://econspace.net/teaching/MGT-528/Brandenburger-Nalebuff-HBR-1995.pdf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Lifecycle framing synthesized from agent‑orchestration best practices and the mission statement surfaced via: https://www.mcp.pizza/mcp-client/i6V8/AGI-Alpha-Agent-v0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Kardashev scale (Type II as stellar-scale energy use): https://www.britannica.com/science/Kardashev-scale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Domain-agnostic “alpha” examples surfaced via: https://www.mcp.pizza/mcp-client/i6V8/AGI-Alpha-Agent-v0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Background artwork provided by user (attached image).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center_hero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Large‑Scale α‑AGI Business 3 • Ω‑Lattice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10911535" cy="1005840"/>
          </a:xfrm>
          <a:prstGeom prst="roundRect">
            <a:avLst/>
          </a:prstGeom>
          <a:solidFill>
            <a:srgbClr val="0B0712">
              <a:alpha val="80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Omega‑Grade Edition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10911535" cy="868680"/>
          </a:xfrm>
          <a:prstGeom prst="roundRect">
            <a:avLst/>
          </a:prstGeom>
          <a:solidFill>
            <a:srgbClr val="0B0712">
              <a:alpha val="74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institutional demo master presentation for a large‑scale, multi‑agent enterprise engine: governed, auditable, and deployable.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3337560"/>
            <a:ext cx="10911535" cy="502920"/>
          </a:xfrm>
          <a:prstGeom prst="roundRect">
            <a:avLst/>
          </a:prstGeom>
          <a:solidFill>
            <a:srgbClr val="0B0712">
              <a:alpha val="66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language: purplish‑red, high‑signal, audit‑ready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center_blur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7548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Narrative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1143000"/>
            <a:ext cx="10911535" cy="5257800"/>
          </a:xfrm>
          <a:prstGeom prst="roundRect">
            <a:avLst/>
          </a:prstGeom>
          <a:solidFill>
            <a:srgbClr val="0B0712">
              <a:alpha val="7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228600" tIns="228600" rIns="228600" bIns="228600" rtlCol="0" anchor="t">
            <a:normAutofit/>
          </a:bodyPr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autonomous enterprise primitive now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landscape: financial • physical • informational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principle: free‑energy reduction → compounding output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orchestrator, agents, ledger, safety, observability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mechanism design + credible commitments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local → cloud → air‑gapped</a:t>
            </a:r>
            <a:endParaRPr lang="en-US" sz="200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2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pilot, scale, sovereign operations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center_deep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7548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1143000"/>
            <a:ext cx="10911535" cy="1097280"/>
          </a:xfrm>
          <a:prstGeom prst="roundRect">
            <a:avLst/>
          </a:prstGeom>
          <a:solidFill>
            <a:srgbClr val="0B0712">
              <a:alpha val="82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 fontScale="850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enterprise that continuously converts latent inefficiency into governed, auditable, compounding output — across markets, infrastructure, and knowledge.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" y="2649798"/>
            <a:ext cx="3515258" cy="16916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B3125D">
                <a:alpha val="3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
</a:t>
            </a:r>
            <a:r>
              <a:rPr lang="en-US" sz="22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α‑AGI Business
</a:t>
            </a:r>
            <a:r>
              <a:rPr lang="en-US" sz="12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enterprise loop with explicit incentives and accountability.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38218" y="2649798"/>
            <a:ext cx="3515258" cy="16916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B3125D">
                <a:alpha val="3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
</a:t>
            </a:r>
            <a:r>
              <a:rPr lang="en-US" sz="22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Ω‑Lattice
</a:t>
            </a:r>
            <a:r>
              <a:rPr lang="en-US" sz="12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agents minimizing free‑energy under constraints.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36357" y="2649798"/>
            <a:ext cx="3515258" cy="16916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B3125D">
                <a:alpha val="3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
</a:t>
            </a:r>
            <a:r>
              <a:rPr lang="en-US" sz="22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Auditability
</a:t>
            </a:r>
            <a:r>
              <a:rPr lang="en-US" sz="12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logs, policy gates, and attestations.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4796692"/>
            <a:ext cx="10911535" cy="640080"/>
          </a:xfrm>
          <a:prstGeom prst="roundRect">
            <a:avLst/>
          </a:prstGeom>
          <a:solidFill>
            <a:srgbClr val="0B0712">
              <a:alpha val="74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serious institutions: fast, observable, and governable.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center_blur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7548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 Landscape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1234440"/>
            <a:ext cx="351525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1618488"/>
            <a:ext cx="2560320" cy="36576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1737360"/>
            <a:ext cx="3515258" cy="425196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228600" tIns="228600" rIns="228600" bIns="228600" rtlCol="0" anchor="t">
            <a:normAutofit/>
          </a:bodyPr>
          <a:lstStyle/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dislocations</a:t>
            </a:r>
            <a:endParaRPr lang="en-US" sz="1400" dirty="0"/>
          </a:p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regimes</a:t>
            </a:r>
            <a:endParaRPr lang="en-US" sz="1400" dirty="0"/>
          </a:p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microstructure</a:t>
            </a:r>
            <a:endParaRPr lang="en-US" sz="1400" dirty="0"/>
          </a:p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risk transfer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38218" y="1234440"/>
            <a:ext cx="351525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338218" y="1618488"/>
            <a:ext cx="2560320" cy="36576"/>
          </a:xfrm>
          <a:prstGeom prst="rect">
            <a:avLst/>
          </a:prstGeom>
          <a:solidFill>
            <a:srgbClr val="5B1B6E"/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38218" y="1737360"/>
            <a:ext cx="3515258" cy="425196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228600" tIns="228600" rIns="228600" bIns="228600" rtlCol="0" anchor="t">
            <a:normAutofit/>
          </a:bodyPr>
          <a:lstStyle/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load imbalance</a:t>
            </a:r>
            <a:endParaRPr lang="en-US" sz="1400" dirty="0"/>
          </a:p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waste</a:t>
            </a:r>
            <a:endParaRPr lang="en-US" sz="1400" dirty="0"/>
          </a:p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entropy</a:t>
            </a:r>
            <a:endParaRPr lang="en-US" sz="1400" dirty="0"/>
          </a:p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scheduling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036357" y="1234440"/>
            <a:ext cx="351525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Informational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036357" y="1618488"/>
            <a:ext cx="2560320" cy="36576"/>
          </a:xfrm>
          <a:prstGeom prst="rect">
            <a:avLst/>
          </a:prstGeom>
          <a:solidFill>
            <a:srgbClr val="7A2CF1"/>
          </a:solidFill>
          <a:ln w="12700">
            <a:solidFill>
              <a:srgbClr val="7A2C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036357" y="1737360"/>
            <a:ext cx="3515258" cy="425196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228600" tIns="228600" rIns="228600" bIns="228600" rtlCol="0" anchor="t">
            <a:normAutofit/>
          </a:bodyPr>
          <a:lstStyle/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bottlenecks</a:t>
            </a:r>
            <a:endParaRPr lang="en-US" sz="1400" dirty="0"/>
          </a:p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phase‑lags</a:t>
            </a:r>
            <a:endParaRPr lang="en-US" sz="1400" dirty="0"/>
          </a:p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search spaces</a:t>
            </a:r>
            <a:endParaRPr lang="en-US" sz="1400" dirty="0"/>
          </a:p>
          <a:p>
            <a:pPr marL="165100" indent="-1651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extraction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center_deep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7548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Principle: Free‑Energy Reduction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1234440"/>
            <a:ext cx="5715000" cy="960120"/>
          </a:xfrm>
          <a:prstGeom prst="roundRect">
            <a:avLst/>
          </a:prstGeom>
          <a:solidFill>
            <a:srgbClr val="0B0712">
              <a:alpha val="84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ΔG = ΔH − TΔS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640080" y="2331720"/>
            <a:ext cx="5715000" cy="3337560"/>
          </a:xfrm>
          <a:prstGeom prst="roundRect">
            <a:avLst/>
          </a:prstGeom>
          <a:solidFill>
            <a:srgbClr val="0B0712">
              <a:alpha val="7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thermodynamic language as a disciplined metaphor: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ΔH = latent work (recoverable value)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ΔS = uncertainty / disorder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 = environment temperature (risk regime)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move reduces free‑energy while respecting constraints.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37960" y="1234440"/>
            <a:ext cx="5013655" cy="44348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Estimate ΔH and ΔS from signals and models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Calibrate T from regime indicators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Prioritize actions with ΔG &lt; 0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Verify before committing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37960" y="5806440"/>
            <a:ext cx="5013655" cy="640080"/>
          </a:xfrm>
          <a:prstGeom prst="roundRect">
            <a:avLst/>
          </a:prstGeom>
          <a:solidFill>
            <a:srgbClr val="0B0712">
              <a:alpha val="70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simple objective that scales across domains.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center_blur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7548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(Institution‑Grade)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1234440"/>
            <a:ext cx="5897880" cy="868680"/>
          </a:xfrm>
          <a:prstGeom prst="roundRect">
            <a:avLst/>
          </a:prstGeom>
          <a:solidFill>
            <a:srgbClr val="0B0712">
              <a:alpha val="82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Ω‑Orchestrator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jobs • sets temperature • allocates budget • composes evidence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240280"/>
            <a:ext cx="1874520" cy="7772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agent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679192" y="2240280"/>
            <a:ext cx="1874520" cy="7772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agent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18304" y="2240280"/>
            <a:ext cx="1874520" cy="7772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agent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182112"/>
            <a:ext cx="1874520" cy="7772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agent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79192" y="3182112"/>
            <a:ext cx="1874520" cy="7772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agent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18304" y="3182112"/>
            <a:ext cx="1874520" cy="7772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agent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20840" y="1234440"/>
            <a:ext cx="4830775" cy="39776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Stack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gates (tools, budgets, scopes)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Sandboxing + least privilege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Observability: logs, traces, dashboards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Ledgered commitments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governance for high‑impact actions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20840" y="5349240"/>
            <a:ext cx="4830775" cy="640080"/>
          </a:xfrm>
          <a:prstGeom prst="roundRect">
            <a:avLst/>
          </a:prstGeom>
          <a:solidFill>
            <a:srgbClr val="0B0712">
              <a:alpha val="70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autonomy with accountability.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top_hero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7548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Autopoietic Enterprise Loop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1143000"/>
            <a:ext cx="10911535" cy="685800"/>
          </a:xfrm>
          <a:prstGeom prst="roundRect">
            <a:avLst/>
          </a:prstGeom>
          <a:solidFill>
            <a:srgbClr val="0B0712">
              <a:alpha val="82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self‑maintaining system: it produces the components that keep it producing.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51560" y="2148840"/>
            <a:ext cx="2240280" cy="731520"/>
          </a:xfrm>
          <a:prstGeom prst="roundRect">
            <a:avLst/>
          </a:prstGeom>
          <a:solidFill>
            <a:srgbClr val="120819">
              <a:alpha val="90000"/>
            </a:srgbClr>
          </a:solidFill>
          <a:ln w="12700">
            <a:solidFill>
              <a:srgbClr val="B3125D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03320" y="1965960"/>
            <a:ext cx="2240280" cy="731520"/>
          </a:xfrm>
          <a:prstGeom prst="roundRect">
            <a:avLst/>
          </a:prstGeom>
          <a:solidFill>
            <a:srgbClr val="120819">
              <a:alpha val="90000"/>
            </a:srgbClr>
          </a:solidFill>
          <a:ln w="12700">
            <a:solidFill>
              <a:srgbClr val="5B1B6E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55080" y="2148840"/>
            <a:ext cx="2240280" cy="731520"/>
          </a:xfrm>
          <a:prstGeom prst="roundRect">
            <a:avLst/>
          </a:prstGeom>
          <a:solidFill>
            <a:srgbClr val="120819">
              <a:alpha val="90000"/>
            </a:srgbClr>
          </a:solidFill>
          <a:ln w="12700">
            <a:solidFill>
              <a:srgbClr val="B3125D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006840" y="3611880"/>
            <a:ext cx="2240280" cy="731520"/>
          </a:xfrm>
          <a:prstGeom prst="roundRect">
            <a:avLst/>
          </a:prstGeom>
          <a:solidFill>
            <a:srgbClr val="120819">
              <a:alpha val="90000"/>
            </a:srgbClr>
          </a:solidFill>
          <a:ln w="12700">
            <a:solidFill>
              <a:srgbClr val="5B1B6E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55080" y="4617720"/>
            <a:ext cx="2240280" cy="731520"/>
          </a:xfrm>
          <a:prstGeom prst="roundRect">
            <a:avLst/>
          </a:prstGeom>
          <a:solidFill>
            <a:srgbClr val="120819">
              <a:alpha val="90000"/>
            </a:srgbClr>
          </a:solidFill>
          <a:ln w="12700">
            <a:solidFill>
              <a:srgbClr val="B3125D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51560" y="3611880"/>
            <a:ext cx="2240280" cy="731520"/>
          </a:xfrm>
          <a:prstGeom prst="roundRect">
            <a:avLst/>
          </a:prstGeom>
          <a:solidFill>
            <a:srgbClr val="120819">
              <a:alpha val="90000"/>
            </a:srgbClr>
          </a:solidFill>
          <a:ln w="12700">
            <a:solidFill>
              <a:srgbClr val="5B1B6E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" y="5532120"/>
            <a:ext cx="10911535" cy="822960"/>
          </a:xfrm>
          <a:prstGeom prst="roundRect">
            <a:avLst/>
          </a:prstGeom>
          <a:solidFill>
            <a:srgbClr val="0B0712">
              <a:alpha val="74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constrained by policy, and improved only through verified updates.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scaling possible without losing institutional control.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center_blur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7548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as Game Design (PARTS)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1143000"/>
            <a:ext cx="10911535" cy="640080"/>
          </a:xfrm>
          <a:prstGeom prst="roundRect">
            <a:avLst/>
          </a:prstGeom>
          <a:solidFill>
            <a:srgbClr val="0B0712">
              <a:alpha val="82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game by changing its elements — not just its moves.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057400"/>
            <a:ext cx="3515258" cy="16916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B3125D">
                <a:alpha val="35000"/>
              </a:srgbClr>
            </a:solidFill>
          </a:ln>
          <a:effectLst>
            <a:outerShdw blurRad="3175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Players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participates; which roles are permitted.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38218" y="2057400"/>
            <a:ext cx="3515258" cy="16916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B3125D">
                <a:alpha val="35000"/>
              </a:srgbClr>
            </a:solidFill>
          </a:ln>
          <a:effectLst>
            <a:outerShdw blurRad="3175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Value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participant contributes or extracts.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36357" y="2057400"/>
            <a:ext cx="3515258" cy="16916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B3125D">
                <a:alpha val="35000"/>
              </a:srgbClr>
            </a:solidFill>
          </a:ln>
          <a:effectLst>
            <a:outerShdw blurRad="3175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Constraints, policies, enforcement.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080" y="3977640"/>
            <a:ext cx="3515258" cy="16916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B3125D">
                <a:alpha val="35000"/>
              </a:srgbClr>
            </a:solidFill>
          </a:ln>
          <a:effectLst>
            <a:outerShdw blurRad="3175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Tactics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signaling, commitments.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338218" y="3977640"/>
            <a:ext cx="3515258" cy="16916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B3125D">
                <a:alpha val="35000"/>
              </a:srgbClr>
            </a:solidFill>
          </a:ln>
          <a:effectLst>
            <a:outerShdw blurRad="3175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arenas are inside the boundary.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center_deep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7548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α‑Job Lifecycle (End‑to‑End)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1783080"/>
            <a:ext cx="1737360" cy="12344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7A2CF1">
                <a:alpha val="40000"/>
              </a:srgbClr>
            </a:solidFill>
          </a:ln>
          <a:effectLst>
            <a:outerShdw blurRad="27940" dist="1524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5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
</a:t>
            </a:r>
            <a:r>
              <a:rPr lang="en-US" sz="11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→ candidates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359152" y="1783080"/>
            <a:ext cx="1737360" cy="12344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7A2CF1">
                <a:alpha val="40000"/>
              </a:srgbClr>
            </a:solidFill>
          </a:ln>
          <a:effectLst>
            <a:outerShdw blurRad="27940" dist="1524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5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Formulate
</a:t>
            </a:r>
            <a:r>
              <a:rPr lang="en-US" sz="11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+ constraints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261104" y="1783080"/>
            <a:ext cx="1737360" cy="12344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7A2CF1">
                <a:alpha val="40000"/>
              </a:srgbClr>
            </a:solidFill>
          </a:ln>
          <a:effectLst>
            <a:outerShdw blurRad="27940" dist="1524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5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Allocate
</a:t>
            </a:r>
            <a:r>
              <a:rPr lang="en-US" sz="11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+ budget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163056" y="1783080"/>
            <a:ext cx="1737360" cy="12344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7A2CF1">
                <a:alpha val="40000"/>
              </a:srgbClr>
            </a:solidFill>
          </a:ln>
          <a:effectLst>
            <a:outerShdw blurRad="27940" dist="1524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5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
</a:t>
            </a:r>
            <a:r>
              <a:rPr lang="en-US" sz="11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actions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65008" y="1783080"/>
            <a:ext cx="1737360" cy="12344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7A2CF1">
                <a:alpha val="40000"/>
              </a:srgbClr>
            </a:solidFill>
          </a:ln>
          <a:effectLst>
            <a:outerShdw blurRad="27940" dist="1524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5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
</a:t>
            </a:r>
            <a:r>
              <a:rPr lang="en-US" sz="11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 + audits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66960" y="1783080"/>
            <a:ext cx="1737360" cy="12344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7A2CF1">
                <a:alpha val="40000"/>
              </a:srgbClr>
            </a:solidFill>
          </a:ln>
          <a:effectLst>
            <a:outerShdw blurRad="27940" dist="15240" dir="2700000" algn="bl" rotWithShape="0">
              <a:srgbClr val="000000">
                <a:alpha val="18000"/>
              </a:srgbClr>
            </a:outerShdw>
          </a:effectLst>
        </p:spPr>
        <p:txBody>
          <a:bodyPr wrap="square" lIns="152400" tIns="152400" rIns="152400" bIns="15240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5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
</a:t>
            </a:r>
            <a:r>
              <a:rPr lang="en-US" sz="11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+ learn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246120"/>
            <a:ext cx="10911535" cy="822960"/>
          </a:xfrm>
          <a:prstGeom prst="roundRect">
            <a:avLst/>
          </a:prstGeom>
          <a:solidFill>
            <a:srgbClr val="0B0712">
              <a:alpha val="7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emits evidence: logs, policies, approvals, proofs — enabling speed without sacrificing governance.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0080" y="4251960"/>
            <a:ext cx="10911535" cy="210312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best practices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Human‑in‑the‑loop gates for high‑impact actions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replay for audits and incident review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Budgeted autonomy: bounded scopes + explicit risk envelopes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bottom_hero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7548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Intuition: Kardashev II Mindset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1143000"/>
            <a:ext cx="10911535" cy="623277"/>
          </a:xfrm>
          <a:prstGeom prst="roundRect">
            <a:avLst/>
          </a:prstGeom>
          <a:solidFill>
            <a:srgbClr val="0B0712">
              <a:alpha val="82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 is a civilization‑scale coordination primitive: make energy, capital, and knowledge legible and actionable.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057400"/>
            <a:ext cx="5989320" cy="434340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From local optimization to grid‑scale orchestration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From static portfolios to adaptive risk budgets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From search to validated synthesis and execution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From paperwork to cryptographic accountability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20840" y="2057400"/>
            <a:ext cx="4830775" cy="4343400"/>
          </a:xfrm>
          <a:prstGeom prst="roundRect">
            <a:avLst/>
          </a:prstGeom>
          <a:solidFill>
            <a:srgbClr val="0B0712">
              <a:alpha val="7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reference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II civilization is often described as one capable of harnessing the energy output of its star (e.g., via Dyson‑sphere‑like infrastructure).</a:t>
            </a: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endParaRPr lang="en-US" sz="13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it serves as a planning metaphor: think in energy throughput, waste minimization, and long‑horizon stability.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center_blur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7548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Modes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1417320"/>
            <a:ext cx="5440680" cy="205740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B3125D">
                <a:alpha val="40000"/>
              </a:srgbClr>
            </a:solidFill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203200" tIns="203200" rIns="203200" bIns="20320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
</a:t>
            </a: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machine. Fast iteration, reproducible runs.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37960" y="1417320"/>
            <a:ext cx="5440680" cy="205740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5B1B6E">
                <a:alpha val="40000"/>
              </a:srgbClr>
            </a:solidFill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203200" tIns="203200" rIns="203200" bIns="20320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
</a:t>
            </a: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Horizontally scalable agents. Observability-first.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" y="3749040"/>
            <a:ext cx="5440680" cy="205740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B3125D">
                <a:alpha val="40000"/>
              </a:srgbClr>
            </a:solidFill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203200" tIns="203200" rIns="203200" bIns="20320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Air‑gapped
</a:t>
            </a: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On‑prem, no external calls. Sovereign control.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37960" y="3749040"/>
            <a:ext cx="5440680" cy="205740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5B1B6E">
                <a:alpha val="40000"/>
              </a:srgbClr>
            </a:solidFill>
          </a:ln>
          <a:effectLst>
            <a:outerShdw blurRad="3810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203200" tIns="203200" rIns="203200" bIns="20320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
</a:t>
            </a:r>
            <a:r>
              <a:rPr lang="en-US" sz="14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on‑prem; burst compute in cloud.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center_deep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7548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Audit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1234440"/>
            <a:ext cx="5989320" cy="51206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produces traceable evidence: inputs → tools → outputs → decisions.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replay of high‑impact sequences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logs: approvals, denials, boundaries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Ledgered commitments: immutable state transitions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20840" y="1234440"/>
            <a:ext cx="4830775" cy="5120640"/>
          </a:xfrm>
          <a:prstGeom prst="roundRect">
            <a:avLst/>
          </a:prstGeom>
          <a:solidFill>
            <a:srgbClr val="0B0712">
              <a:alpha val="7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outcomes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readiness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Operational resilience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clarity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incident triage</a:t>
            </a:r>
            <a:endParaRPr lang="en-US" sz="1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Measured autonomy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center_blur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7548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Use Cases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1325880"/>
            <a:ext cx="3515258" cy="187452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5B1B6E">
                <a:alpha val="35000"/>
              </a:srgbClr>
            </a:solidFill>
          </a:ln>
          <a:effectLst>
            <a:outerShdw blurRad="3175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Markets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hedging, execution, reporting.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38218" y="1325880"/>
            <a:ext cx="3515258" cy="187452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5B1B6E">
                <a:alpha val="35000"/>
              </a:srgbClr>
            </a:solidFill>
          </a:ln>
          <a:effectLst>
            <a:outerShdw blurRad="3175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&amp; Industry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Dispatch, scheduling, predictive maintenance.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036357" y="1325880"/>
            <a:ext cx="3515258" cy="187452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5B1B6E">
                <a:alpha val="35000"/>
              </a:srgbClr>
            </a:solidFill>
          </a:ln>
          <a:effectLst>
            <a:outerShdw blurRad="3175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R&amp;D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synthesis, experiment planning, review.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3474720"/>
            <a:ext cx="3515258" cy="187452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5B1B6E">
                <a:alpha val="35000"/>
              </a:srgbClr>
            </a:solidFill>
          </a:ln>
          <a:effectLst>
            <a:outerShdw blurRad="3175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chain, routing, capacity, procurement.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338218" y="3474720"/>
            <a:ext cx="3515258" cy="187452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5B1B6E">
                <a:alpha val="35000"/>
              </a:srgbClr>
            </a:solidFill>
          </a:ln>
          <a:effectLst>
            <a:outerShdw blurRad="3175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scenario analysis, compliant execution.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36357" y="3474720"/>
            <a:ext cx="3515258" cy="187452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5B1B6E">
                <a:alpha val="35000"/>
              </a:srgbClr>
            </a:solidFill>
          </a:ln>
          <a:effectLst>
            <a:outerShdw blurRad="31750" dist="19050" dir="2700000" algn="bl" rotWithShape="0">
              <a:srgbClr val="000000">
                <a:alpha val="20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controls, anomaly detection, response.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center_deep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7548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Pilot → Scale → Sovereign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1325880"/>
            <a:ext cx="10911535" cy="10058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B3125D">
                <a:alpha val="40000"/>
              </a:srgbClr>
            </a:solidFill>
          </a:ln>
          <a:effectLst>
            <a:outerShdw blurRad="27940" dist="1524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03200" tIns="203200" rIns="203200" bIns="2032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Pilot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domain, bounded tools, measurable KPIs.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2560320"/>
            <a:ext cx="10911535" cy="10058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5B1B6E">
                <a:alpha val="40000"/>
              </a:srgbClr>
            </a:solidFill>
          </a:ln>
          <a:effectLst>
            <a:outerShdw blurRad="27940" dist="1524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03200" tIns="203200" rIns="203200" bIns="2032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Multi‑Domain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Cross‑domain routing; unified audit trail.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3794760"/>
            <a:ext cx="10911535" cy="10058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5B1B6E">
                <a:alpha val="40000"/>
              </a:srgbClr>
            </a:solidFill>
          </a:ln>
          <a:effectLst>
            <a:outerShdw blurRad="27940" dist="1524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03200" tIns="203200" rIns="203200" bIns="2032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Institutional Scale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automation; resilient operations.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5029200"/>
            <a:ext cx="10911535" cy="100584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5B1B6E">
                <a:alpha val="40000"/>
              </a:srgbClr>
            </a:solidFill>
          </a:ln>
          <a:effectLst>
            <a:outerShdw blurRad="27940" dist="15240" dir="2700000" algn="bl" rotWithShape="0">
              <a:srgbClr val="000000">
                <a:alpha val="18000"/>
              </a:srgbClr>
            </a:outerShdw>
          </a:effectLst>
        </p:spPr>
        <p:txBody>
          <a:bodyPr wrap="square" lIns="203200" tIns="203200" rIns="203200" bIns="20320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Sovereign
</a:t>
            </a:r>
            <a:r>
              <a:rPr lang="en-US" sz="13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Air‑gapped modes; attestations; long‑horizon stability.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mega_assets/center_hero_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1B6E">
              <a:alpha val="75000"/>
            </a:srgbClr>
          </a:solidFill>
          <a:ln w="12700">
            <a:solidFill>
              <a:srgbClr val="5B1B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109728"/>
            <a:ext cx="12191695" cy="18288"/>
          </a:xfrm>
          <a:prstGeom prst="rect">
            <a:avLst/>
          </a:prstGeom>
          <a:solidFill>
            <a:srgbClr val="B3125D"/>
          </a:solidFill>
          <a:ln w="12700">
            <a:solidFill>
              <a:srgbClr val="B312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141732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Ω‑Lattice • Omega‑Grade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70611">
              <a:alpha val="65000"/>
            </a:srgbClr>
          </a:solidFill>
          <a:ln w="12700">
            <a:solidFill>
              <a:srgbClr val="0706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658368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MONTREAL.AI • Large‑Scale α‑AGI Business 3 — Omega‑Grade Edition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94415" y="6583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1234440"/>
            <a:ext cx="10911535" cy="777240"/>
          </a:xfrm>
          <a:prstGeom prst="roundRect">
            <a:avLst/>
          </a:prstGeom>
          <a:solidFill>
            <a:srgbClr val="0B0712">
              <a:alpha val="80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enterprise primitive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40080" y="2148840"/>
            <a:ext cx="10911535" cy="640080"/>
          </a:xfrm>
          <a:prstGeom prst="roundRect">
            <a:avLst/>
          </a:prstGeom>
          <a:solidFill>
            <a:srgbClr val="0B0712">
              <a:alpha val="74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D8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• Governance • Proof • Compounding value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971800"/>
            <a:ext cx="10911535" cy="1097280"/>
          </a:xfrm>
          <a:prstGeom prst="roundRect">
            <a:avLst/>
          </a:prstGeom>
          <a:solidFill>
            <a:srgbClr val="120819">
              <a:alpha val="88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 make the world legible, you can make it governable.</a:t>
            </a:r>
            <a:endParaRPr lang="en-US" sz="2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200" i="1" dirty="0">
                <a:solidFill>
                  <a:srgbClr val="F6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 make it governable, you can make it prosperous.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0080" y="4251960"/>
            <a:ext cx="10911535" cy="640080"/>
          </a:xfrm>
          <a:prstGeom prst="roundRect">
            <a:avLst/>
          </a:prstGeom>
          <a:solidFill>
            <a:srgbClr val="0B0712">
              <a:alpha val="70000"/>
            </a:srgbClr>
          </a:solidFill>
          <a:ln w="12700">
            <a:solidFill>
              <a:srgbClr val="2A123A">
                <a:alpha val="45000"/>
              </a:srgbClr>
            </a:solidFill>
          </a:ln>
          <a:effectLst>
            <a:outerShdw blurRad="38100" dist="19050" dir="2700000" algn="bl" rotWithShape="0">
              <a:srgbClr val="000000">
                <a:alpha val="22000"/>
              </a:srgbClr>
            </a:outerShdw>
          </a:effectLst>
        </p:spPr>
        <p:txBody>
          <a:bodyPr wrap="square" lIns="177800" tIns="177800" rIns="177800" bIns="1778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B8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choose a pilot domain, define the policy envelope, and run the loop.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1899</Words>
  <Application>Microsoft Macintosh PowerPoint</Application>
  <PresentationFormat>Widescreen</PresentationFormat>
  <Paragraphs>223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Vincent Boucher</cp:lastModifiedBy>
  <cp:revision>2</cp:revision>
  <dcterms:created xsi:type="dcterms:W3CDTF">2026-01-10T04:34:05Z</dcterms:created>
  <dcterms:modified xsi:type="dcterms:W3CDTF">2026-01-10T14:37:44Z</dcterms:modified>
</cp:coreProperties>
</file>