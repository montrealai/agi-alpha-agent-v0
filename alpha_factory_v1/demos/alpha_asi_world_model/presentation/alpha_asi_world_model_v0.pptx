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6"/>
    <p:restoredTop sz="94610"/>
  </p:normalViewPr>
  <p:slideViewPr>
    <p:cSldViewPr snapToGrid="0" snapToObjects="1">
      <p:cViewPr varScale="1">
        <p:scale>
          <a:sx n="192" d="100"/>
          <a:sy n="192" d="100"/>
        </p:scale>
        <p:origin x="162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0619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ver_bg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713232" y="841248"/>
            <a:ext cx="10765231" cy="2239882"/>
          </a:xfrm>
          <a:prstGeom prst="roundRect">
            <a:avLst/>
          </a:prstGeom>
          <a:solidFill>
            <a:srgbClr val="12061F">
              <a:alpha val="90000"/>
            </a:srgbClr>
          </a:solidFill>
          <a:ln w="12700">
            <a:solidFill>
              <a:srgbClr val="A855F7">
                <a:alpha val="5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1033272" y="1024128"/>
            <a:ext cx="10125151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F5F3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α‑ASI World‑Model Demo 👁️✨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1033272" y="1719072"/>
            <a:ext cx="960120" cy="73152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33272" y="1847088"/>
            <a:ext cx="10125151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Self‑improving curriculum engine + MuZero‑style learner, orchestrating agents through a single operational loop.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60386" y="2514996"/>
            <a:ext cx="3684502" cy="438912"/>
          </a:xfrm>
          <a:prstGeom prst="roundRect">
            <a:avLst/>
          </a:prstGeom>
          <a:solidFill>
            <a:srgbClr val="170927">
              <a:alpha val="85000"/>
            </a:srgbClr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124978" y="2588148"/>
            <a:ext cx="351991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→ Learner → Agents → Telemetry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15127" y="2514996"/>
            <a:ext cx="3753282" cy="438912"/>
          </a:xfrm>
          <a:prstGeom prst="roundRect">
            <a:avLst/>
          </a:prstGeom>
          <a:solidFill>
            <a:srgbClr val="170927">
              <a:alpha val="85000"/>
            </a:srgbClr>
          </a:solidFill>
          <a:ln w="12700">
            <a:solidFill>
              <a:srgbClr val="FF2D9B">
                <a:alpha val="7000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879719" y="2588148"/>
            <a:ext cx="3588690" cy="292608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Offline‑safe • deterministic deps • v0.1.0‑alpha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538648" y="2514996"/>
            <a:ext cx="2715768" cy="438912"/>
          </a:xfrm>
          <a:prstGeom prst="roundRect">
            <a:avLst/>
          </a:prstGeom>
          <a:solidFill>
            <a:srgbClr val="170927">
              <a:alpha val="85000"/>
            </a:srgbClr>
          </a:solidFill>
          <a:ln w="12700">
            <a:solidFill>
              <a:srgbClr val="F43F5E">
                <a:alpha val="7000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703240" y="2588148"/>
            <a:ext cx="238658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alpha‑asi‑demo --demo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3232" y="6510528"/>
            <a:ext cx="10765231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9C8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MontrealAI • Alpha‑Factory v1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20D"/>
          </a:solidFill>
          <a:ln/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137160"/>
            <a:ext cx="4892040" cy="4892040"/>
          </a:xfrm>
          <a:prstGeom prst="ellipse">
            <a:avLst/>
          </a:prstGeom>
          <a:solidFill>
            <a:srgbClr val="A855F7">
              <a:alpha val="14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543800" y="2148840"/>
            <a:ext cx="4572000" cy="4572000"/>
          </a:xfrm>
          <a:prstGeom prst="ellipse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720840" y="91440"/>
            <a:ext cx="3749040" cy="3749040"/>
          </a:xfrm>
          <a:prstGeom prst="ellipse">
            <a:avLst/>
          </a:prstGeom>
          <a:solidFill>
            <a:srgbClr val="FF2D9B">
              <a:alpha val="8000"/>
            </a:srgbClr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3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thesis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13232" y="1078992"/>
            <a:ext cx="685800" cy="54864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13232" y="1170432"/>
            <a:ext cx="1076523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loop that compounds capability by design.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10765231" cy="5074920"/>
          </a:xfrm>
          <a:prstGeom prst="roundRect">
            <a:avLst/>
          </a:prstGeom>
          <a:solidFill>
            <a:srgbClr val="12061F">
              <a:alpha val="92000"/>
            </a:srgbClr>
          </a:solidFill>
          <a:ln w="12700">
            <a:solidFill>
              <a:srgbClr val="6D28D9">
                <a:alpha val="5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05840" y="1737360"/>
            <a:ext cx="6172200" cy="443484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470648" y="1737360"/>
            <a:ext cx="3751783" cy="443484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F2D9B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325880" y="2011680"/>
            <a:ext cx="5532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implements an operational world‑model flywheel: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514600"/>
            <a:ext cx="544068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Agents generate curriculum signals (new environments, rewards, plans).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MuZero‑style learner updates the internal model and policies.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safety guard halts divergence via loss monitoring.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Telemetry closes the loop via a UI/WS interface for commands + inspection.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90688" y="2011680"/>
            <a:ext cx="3111703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836408" y="2514600"/>
            <a:ext cx="3020263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Open‑ended difficulty scaling (POET generator → mini‑world pool).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Planning under uncertainty (learned dynamics + search).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Parallel specialization (Strategy / Research / CodeGen agents).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Operator control via telemetry + command channel.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3232" y="6510528"/>
            <a:ext cx="10765231" cy="256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C8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LENS: ENERGY LANDSCAPES • GAME THEORY • AUTOPOIESIS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416"/>
          </a:solidFill>
          <a:ln/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137160"/>
            <a:ext cx="4892040" cy="4892040"/>
          </a:xfrm>
          <a:prstGeom prst="ellipse">
            <a:avLst/>
          </a:prstGeom>
          <a:solidFill>
            <a:srgbClr val="A855F7">
              <a:alpha val="14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543800" y="2148840"/>
            <a:ext cx="4572000" cy="4572000"/>
          </a:xfrm>
          <a:prstGeom prst="ellipse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720840" y="91440"/>
            <a:ext cx="3749040" cy="3749040"/>
          </a:xfrm>
          <a:prstGeom prst="ellipse">
            <a:avLst/>
          </a:prstGeom>
          <a:solidFill>
            <a:srgbClr val="FF2D9B">
              <a:alpha val="8000"/>
            </a:srgbClr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3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Alpha‑Factory Bus (A2A)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13232" y="1078992"/>
            <a:ext cx="685800" cy="54864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13232" y="1170432"/>
            <a:ext cx="10765231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Curriculum, telemetry, and safety converge on a single orchestrated loop.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10765231" cy="5074920"/>
          </a:xfrm>
          <a:prstGeom prst="roundRect">
            <a:avLst/>
          </a:prstGeom>
          <a:solidFill>
            <a:srgbClr val="12061F">
              <a:alpha val="92000"/>
            </a:srgbClr>
          </a:solidFill>
          <a:ln w="12700">
            <a:solidFill>
              <a:srgbClr val="6D28D9">
                <a:alpha val="5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9264" y="1737360"/>
            <a:ext cx="10253167" cy="443484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170432" y="1801368"/>
            <a:ext cx="9850831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Alpha‑Factory Bus (A2A)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99032" y="2468880"/>
            <a:ext cx="3063240" cy="822960"/>
          </a:xfrm>
          <a:prstGeom prst="roundRect">
            <a:avLst/>
          </a:prstGeom>
          <a:solidFill>
            <a:srgbClr val="12061F">
              <a:alpha val="95000"/>
            </a:srgbClr>
          </a:solidFill>
          <a:ln w="19050">
            <a:solidFill>
              <a:srgbClr val="FF2D9B">
                <a:alpha val="80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600200" y="2587752"/>
            <a:ext cx="26609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StrategyAgent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2926080"/>
            <a:ext cx="266090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• plans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64228" y="2468880"/>
            <a:ext cx="3063240" cy="822960"/>
          </a:xfrm>
          <a:prstGeom prst="roundRect">
            <a:avLst/>
          </a:prstGeom>
          <a:solidFill>
            <a:srgbClr val="12061F">
              <a:alpha val="95000"/>
            </a:srgbClr>
          </a:solidFill>
          <a:ln w="19050">
            <a:solidFill>
              <a:srgbClr val="A855F7">
                <a:alpha val="80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765396" y="2587752"/>
            <a:ext cx="26609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65396" y="2926080"/>
            <a:ext cx="26609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coordinator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29423" y="2468880"/>
            <a:ext cx="3063240" cy="822960"/>
          </a:xfrm>
          <a:prstGeom prst="roundRect">
            <a:avLst/>
          </a:prstGeom>
          <a:solidFill>
            <a:srgbClr val="12061F">
              <a:alpha val="95000"/>
            </a:srgbClr>
          </a:solidFill>
          <a:ln w="19050">
            <a:solidFill>
              <a:srgbClr val="A855F7">
                <a:alpha val="80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930591" y="2587752"/>
            <a:ext cx="26609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WS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30591" y="2926080"/>
            <a:ext cx="266090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• commands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99032" y="3611880"/>
            <a:ext cx="3063240" cy="822960"/>
          </a:xfrm>
          <a:prstGeom prst="roundRect">
            <a:avLst/>
          </a:prstGeom>
          <a:solidFill>
            <a:srgbClr val="12061F">
              <a:alpha val="95000"/>
            </a:srgbClr>
          </a:solidFill>
          <a:ln w="19050">
            <a:solidFill>
              <a:srgbClr val="A855F7">
                <a:alpha val="80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600200" y="3730752"/>
            <a:ext cx="26609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ResearchAgent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4069080"/>
            <a:ext cx="266090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• evaluation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64228" y="3611880"/>
            <a:ext cx="3063240" cy="822960"/>
          </a:xfrm>
          <a:prstGeom prst="roundRect">
            <a:avLst/>
          </a:prstGeom>
          <a:solidFill>
            <a:srgbClr val="12061F">
              <a:alpha val="95000"/>
            </a:srgbClr>
          </a:solidFill>
          <a:ln w="19050">
            <a:solidFill>
              <a:srgbClr val="A855F7">
                <a:alpha val="80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65396" y="3730752"/>
            <a:ext cx="26609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(MuZero)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65396" y="4069080"/>
            <a:ext cx="266090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• planning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29423" y="3611880"/>
            <a:ext cx="3063240" cy="822960"/>
          </a:xfrm>
          <a:prstGeom prst="roundRect">
            <a:avLst/>
          </a:prstGeom>
          <a:solidFill>
            <a:srgbClr val="12061F">
              <a:alpha val="95000"/>
            </a:srgbClr>
          </a:solidFill>
          <a:ln w="19050">
            <a:solidFill>
              <a:srgbClr val="F43F5E">
                <a:alpha val="80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930591" y="3730752"/>
            <a:ext cx="26609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SafetyAgent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930591" y="4069080"/>
            <a:ext cx="26609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guard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399032" y="4754880"/>
            <a:ext cx="3063240" cy="822960"/>
          </a:xfrm>
          <a:prstGeom prst="roundRect">
            <a:avLst/>
          </a:prstGeom>
          <a:solidFill>
            <a:srgbClr val="12061F">
              <a:alpha val="95000"/>
            </a:srgbClr>
          </a:solidFill>
          <a:ln w="19050">
            <a:solidFill>
              <a:srgbClr val="A855F7">
                <a:alpha val="80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600200" y="4873752"/>
            <a:ext cx="26609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CodeGenAgent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600200" y="5212080"/>
            <a:ext cx="266090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• tools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64228" y="4754880"/>
            <a:ext cx="3063240" cy="822960"/>
          </a:xfrm>
          <a:prstGeom prst="roundRect">
            <a:avLst/>
          </a:prstGeom>
          <a:solidFill>
            <a:srgbClr val="12061F">
              <a:alpha val="95000"/>
            </a:srgbClr>
          </a:solidFill>
          <a:ln w="19050">
            <a:solidFill>
              <a:srgbClr val="FF2D9B">
                <a:alpha val="80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765396" y="4873752"/>
            <a:ext cx="26609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POET Generator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765396" y="5212080"/>
            <a:ext cx="26609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mini‑worlds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729423" y="4754880"/>
            <a:ext cx="3063240" cy="822960"/>
          </a:xfrm>
          <a:prstGeom prst="roundRect">
            <a:avLst/>
          </a:prstGeom>
          <a:solidFill>
            <a:srgbClr val="12061F">
              <a:alpha val="95000"/>
            </a:srgbClr>
          </a:solidFill>
          <a:ln w="19050">
            <a:solidFill>
              <a:srgbClr val="F43F5E">
                <a:alpha val="80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7930591" y="4873752"/>
            <a:ext cx="26609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Pool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930591" y="5212080"/>
            <a:ext cx="26609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MiniWorlds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462272" y="2880360"/>
            <a:ext cx="101956" cy="0"/>
          </a:xfrm>
          <a:prstGeom prst="line">
            <a:avLst/>
          </a:prstGeom>
          <a:noFill/>
          <a:ln w="25400">
            <a:solidFill>
              <a:srgbClr val="FF2D9B">
                <a:alpha val="90000"/>
              </a:srgbClr>
            </a:solidFill>
            <a:prstDash val="solid"/>
            <a:tailEnd type="triangle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7627468" y="2880360"/>
            <a:ext cx="101956" cy="0"/>
          </a:xfrm>
          <a:prstGeom prst="line">
            <a:avLst/>
          </a:prstGeom>
          <a:noFill/>
          <a:ln w="25400">
            <a:solidFill>
              <a:srgbClr val="A855F7">
                <a:alpha val="90000"/>
              </a:srgbClr>
            </a:solidFill>
            <a:prstDash val="solid"/>
            <a:tailEnd type="triangle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462272" y="4023360"/>
            <a:ext cx="101956" cy="0"/>
          </a:xfrm>
          <a:prstGeom prst="line">
            <a:avLst/>
          </a:prstGeom>
          <a:noFill/>
          <a:ln w="25400">
            <a:solidFill>
              <a:srgbClr val="A855F7">
                <a:alpha val="90000"/>
              </a:srgbClr>
            </a:solidFill>
            <a:prstDash val="solid"/>
            <a:tailEnd type="triangle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7627468" y="4023360"/>
            <a:ext cx="101956" cy="0"/>
          </a:xfrm>
          <a:prstGeom prst="line">
            <a:avLst/>
          </a:prstGeom>
          <a:noFill/>
          <a:ln w="25400">
            <a:solidFill>
              <a:srgbClr val="F43F5E">
                <a:alpha val="90000"/>
              </a:srgbClr>
            </a:solidFill>
            <a:prstDash val="solid"/>
            <a:tailEnd type="triangle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4462272" y="5166360"/>
            <a:ext cx="101956" cy="0"/>
          </a:xfrm>
          <a:prstGeom prst="line">
            <a:avLst/>
          </a:prstGeom>
          <a:noFill/>
          <a:ln w="25400">
            <a:solidFill>
              <a:srgbClr val="A855F7">
                <a:alpha val="90000"/>
              </a:srgbClr>
            </a:solidFill>
            <a:prstDash val="solid"/>
            <a:tailEnd type="triangle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7627468" y="5166360"/>
            <a:ext cx="101956" cy="0"/>
          </a:xfrm>
          <a:prstGeom prst="line">
            <a:avLst/>
          </a:prstGeom>
          <a:noFill/>
          <a:ln w="25400">
            <a:solidFill>
              <a:srgbClr val="FF2D9B">
                <a:alpha val="90000"/>
              </a:srgbClr>
            </a:solidFill>
            <a:prstDash val="solid"/>
            <a:tailEnd type="triangle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1307592" y="5806440"/>
            <a:ext cx="9576511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C8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Signals: curriculum • telemetry • commands • gradients • new_env/reward • halt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13232" y="6510528"/>
            <a:ext cx="10765231" cy="256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C8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reproduced from repository README (architecture excerpt).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20D"/>
          </a:solidFill>
          <a:ln/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137160"/>
            <a:ext cx="4892040" cy="4892040"/>
          </a:xfrm>
          <a:prstGeom prst="ellipse">
            <a:avLst/>
          </a:prstGeom>
          <a:solidFill>
            <a:srgbClr val="A855F7">
              <a:alpha val="14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543800" y="2148840"/>
            <a:ext cx="4572000" cy="4572000"/>
          </a:xfrm>
          <a:prstGeom prst="ellipse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720840" y="91440"/>
            <a:ext cx="3749040" cy="3749040"/>
          </a:xfrm>
          <a:prstGeom prst="ellipse">
            <a:avLst/>
          </a:prstGeom>
          <a:solidFill>
            <a:srgbClr val="FF2D9B">
              <a:alpha val="8000"/>
            </a:srgbClr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3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Open‑ended curriculum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13232" y="1078992"/>
            <a:ext cx="685800" cy="54864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13232" y="1170432"/>
            <a:ext cx="10765231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Endlessly generating solvable novelty (POET generator → mini‑world pool).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1874520"/>
            <a:ext cx="3381146" cy="169164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41832" y="2103120"/>
            <a:ext cx="54864" cy="42062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9848" y="2084832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587752"/>
            <a:ext cx="279593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Mutate environments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novelty + learnability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Transfer stepping stones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05274" y="1874520"/>
            <a:ext cx="3381146" cy="169164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F2D9B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633874" y="2103120"/>
            <a:ext cx="54864" cy="420624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61890" y="2084832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MiniWorld Pool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97882" y="2587752"/>
            <a:ext cx="279593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Parallel env_batch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Diverse dynamics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Revisit for stability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97317" y="1874520"/>
            <a:ext cx="3381146" cy="169164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43F5E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325917" y="2103120"/>
            <a:ext cx="54864" cy="42062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453933" y="2084832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to agents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89925" y="2587752"/>
            <a:ext cx="279593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env / reward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Difficulty shaping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Curriculum metrics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149242" y="2720340"/>
            <a:ext cx="201168" cy="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  <a:tailEnd type="triangle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841285" y="2720340"/>
            <a:ext cx="201168" cy="0"/>
          </a:xfrm>
          <a:prstGeom prst="line">
            <a:avLst/>
          </a:prstGeom>
          <a:noFill/>
          <a:ln w="25400">
            <a:solidFill>
              <a:srgbClr val="FF2D9B"/>
            </a:solidFill>
            <a:prstDash val="solid"/>
            <a:tailEnd type="triangle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13232" y="3703320"/>
            <a:ext cx="10765231" cy="2606040"/>
          </a:xfrm>
          <a:prstGeom prst="roundRect">
            <a:avLst/>
          </a:prstGeom>
          <a:solidFill>
            <a:srgbClr val="12061F">
              <a:alpha val="92000"/>
            </a:srgbClr>
          </a:solidFill>
          <a:ln w="12700">
            <a:solidFill>
              <a:srgbClr val="6D28D9">
                <a:alpha val="50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033272" y="3977640"/>
            <a:ext cx="10125151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open‑endedness matters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78992" y="4480560"/>
            <a:ext cx="10033711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Avoids fixed‑dataset ceilings: the frontier moves with capability.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Discovers stepping stones that unlock discontinuous jumps.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Produces a curriculum that remains relevant as the agent changes.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416"/>
          </a:solidFill>
          <a:ln/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137160"/>
            <a:ext cx="4892040" cy="4892040"/>
          </a:xfrm>
          <a:prstGeom prst="ellipse">
            <a:avLst/>
          </a:prstGeom>
          <a:solidFill>
            <a:srgbClr val="A855F7">
              <a:alpha val="14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543800" y="2148840"/>
            <a:ext cx="4572000" cy="4572000"/>
          </a:xfrm>
          <a:prstGeom prst="ellipse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720840" y="91440"/>
            <a:ext cx="3749040" cy="3749040"/>
          </a:xfrm>
          <a:prstGeom prst="ellipse">
            <a:avLst/>
          </a:prstGeom>
          <a:solidFill>
            <a:srgbClr val="FF2D9B">
              <a:alpha val="8000"/>
            </a:srgbClr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3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Learner (MuZero‑style)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13232" y="1078992"/>
            <a:ext cx="685800" cy="54864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13232" y="1170432"/>
            <a:ext cx="1076523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learned dynamics model + search for action selection.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1600200"/>
            <a:ext cx="3381146" cy="187452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41832" y="1828800"/>
            <a:ext cx="54864" cy="42062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9848" y="1810512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313432"/>
            <a:ext cx="279593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Encode observation → latent state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Compress dynamics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Stabilize learning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05274" y="1600200"/>
            <a:ext cx="3381146" cy="187452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F2D9B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633874" y="1828800"/>
            <a:ext cx="54864" cy="420624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61890" y="1810512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97882" y="2313432"/>
            <a:ext cx="279593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 next latent given action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Regularize transitions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 rollouts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97317" y="1600200"/>
            <a:ext cx="3381146" cy="187452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43F5E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325917" y="1828800"/>
            <a:ext cx="54864" cy="42062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453933" y="1810512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89925" y="2313432"/>
            <a:ext cx="279593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 policy + value + reward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Guide tree search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planning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3232" y="3794760"/>
            <a:ext cx="10765231" cy="2331720"/>
          </a:xfrm>
          <a:prstGeom prst="roundRect">
            <a:avLst/>
          </a:prstGeom>
          <a:solidFill>
            <a:srgbClr val="12061F">
              <a:alpha val="92000"/>
            </a:srgbClr>
          </a:solidFill>
          <a:ln w="12700">
            <a:solidFill>
              <a:srgbClr val="6D28D9">
                <a:alpha val="50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33272" y="4069080"/>
            <a:ext cx="10125151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loop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78992" y="4572000"/>
            <a:ext cx="10033711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MCTS rollouts per action (mcts_simulations).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 actions that maximize expected value under the learned model.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parameters from trajectories and value targets.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3232" y="6510528"/>
            <a:ext cx="10765231" cy="256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C8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HAMILTONIAN‑LIKE FLOW ON A LEARNED ENERGY LANDSCAPE (SEARCH + LEARNING).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20D"/>
          </a:solidFill>
          <a:ln/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137160"/>
            <a:ext cx="4892040" cy="4892040"/>
          </a:xfrm>
          <a:prstGeom prst="ellipse">
            <a:avLst/>
          </a:prstGeom>
          <a:solidFill>
            <a:srgbClr val="A855F7">
              <a:alpha val="14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543800" y="2148840"/>
            <a:ext cx="4572000" cy="4572000"/>
          </a:xfrm>
          <a:prstGeom prst="ellipse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720840" y="91440"/>
            <a:ext cx="3749040" cy="3749040"/>
          </a:xfrm>
          <a:prstGeom prst="ellipse">
            <a:avLst/>
          </a:prstGeom>
          <a:solidFill>
            <a:srgbClr val="FF2D9B">
              <a:alpha val="8000"/>
            </a:srgbClr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3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Agents in the loop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13232" y="1078992"/>
            <a:ext cx="685800" cy="54864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13232" y="1170432"/>
            <a:ext cx="10765231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without fragmentation: each agent writes to the same bus.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1600200"/>
            <a:ext cx="3381146" cy="192024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F2D9B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41832" y="1828800"/>
            <a:ext cx="54864" cy="420624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9848" y="1810512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StrategyAgent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313432"/>
            <a:ext cx="279593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Curriculum shaping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Plans for exploration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Reward design probes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05274" y="1600200"/>
            <a:ext cx="3381146" cy="192024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633874" y="1828800"/>
            <a:ext cx="54864" cy="42062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61890" y="1810512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ResearchAgent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97882" y="2313432"/>
            <a:ext cx="279593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 + evaluation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Ablations &amp; comparisons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Insight extraction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97317" y="1600200"/>
            <a:ext cx="3381146" cy="192024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43F5E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325917" y="1828800"/>
            <a:ext cx="54864" cy="42062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453933" y="1810512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CodeGenAgent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89925" y="2313432"/>
            <a:ext cx="279593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 patches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Tooling scaffolds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Automation hooks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3232" y="3840480"/>
            <a:ext cx="10765231" cy="2286000"/>
          </a:xfrm>
          <a:prstGeom prst="roundRect">
            <a:avLst/>
          </a:prstGeom>
          <a:solidFill>
            <a:srgbClr val="12061F">
              <a:alpha val="92000"/>
            </a:srgbClr>
          </a:solidFill>
          <a:ln w="12700">
            <a:solidFill>
              <a:srgbClr val="6D28D9">
                <a:alpha val="50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33272" y="4114800"/>
            <a:ext cx="10125151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principle (game‑theoretic lens)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78992" y="4617720"/>
            <a:ext cx="10033711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Shared interface → shared incentives: signals are legible and comparable.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Parallel search in strategy space, with centralized arbitration.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Emergent division of labor: local optimization, global coherence.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416"/>
          </a:solidFill>
          <a:ln/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137160"/>
            <a:ext cx="4892040" cy="4892040"/>
          </a:xfrm>
          <a:prstGeom prst="ellipse">
            <a:avLst/>
          </a:prstGeom>
          <a:solidFill>
            <a:srgbClr val="A855F7">
              <a:alpha val="14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543800" y="2148840"/>
            <a:ext cx="4572000" cy="4572000"/>
          </a:xfrm>
          <a:prstGeom prst="ellipse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720840" y="91440"/>
            <a:ext cx="3749040" cy="3749040"/>
          </a:xfrm>
          <a:prstGeom prst="ellipse">
            <a:avLst/>
          </a:prstGeom>
          <a:solidFill>
            <a:srgbClr val="FF2D9B">
              <a:alpha val="8000"/>
            </a:srgbClr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3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Safety guardrails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13232" y="1078992"/>
            <a:ext cx="685800" cy="54864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13232" y="1170432"/>
            <a:ext cx="1076523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monitoring as an automatic circuit‑breaker.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10765231" cy="5074920"/>
          </a:xfrm>
          <a:prstGeom prst="roundRect">
            <a:avLst/>
          </a:prstGeom>
          <a:solidFill>
            <a:srgbClr val="12061F">
              <a:alpha val="92000"/>
            </a:srgbClr>
          </a:solidFill>
          <a:ln w="12700">
            <a:solidFill>
              <a:srgbClr val="6D28D9">
                <a:alpha val="5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05840" y="1737360"/>
            <a:ext cx="5120640" cy="443484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43F5E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419088" y="1737360"/>
            <a:ext cx="4766767" cy="443484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325880" y="20116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SafetyAgent (loss guard)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514600"/>
            <a:ext cx="438912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Monitors learner loss statistics.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Issues “halt” on divergence before cascading failures.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Keeps the operator in the loop via telemetry.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406046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444510"/>
            <a:ext cx="4389120" cy="96873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 fast, recover clean.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silent drift.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halt is observable and attributable.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39128" y="2011680"/>
            <a:ext cx="4126687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Circuit‑breaker flow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84848" y="2514600"/>
            <a:ext cx="4035247" cy="3383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Observe loss + reward stats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Detect anomaly / NaN / spike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Emit halt to orchestrator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Persist trace + notify UI/WS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Resume under revised settings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20D"/>
          </a:solidFill>
          <a:ln/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137160"/>
            <a:ext cx="4892040" cy="4892040"/>
          </a:xfrm>
          <a:prstGeom prst="ellipse">
            <a:avLst/>
          </a:prstGeom>
          <a:solidFill>
            <a:srgbClr val="A855F7">
              <a:alpha val="14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543800" y="2148840"/>
            <a:ext cx="4572000" cy="4572000"/>
          </a:xfrm>
          <a:prstGeom prst="ellipse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720840" y="91440"/>
            <a:ext cx="3749040" cy="3749040"/>
          </a:xfrm>
          <a:prstGeom prst="ellipse">
            <a:avLst/>
          </a:prstGeom>
          <a:solidFill>
            <a:srgbClr val="FF2D9B">
              <a:alpha val="8000"/>
            </a:srgbClr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3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Memory &amp; knowledge fabric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13232" y="1078992"/>
            <a:ext cx="685800" cy="54864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13232" y="1170432"/>
            <a:ext cx="10765231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substrate for retrieval, causality, and auditability.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10765231" cy="5074920"/>
          </a:xfrm>
          <a:prstGeom prst="roundRect">
            <a:avLst/>
          </a:prstGeom>
          <a:solidFill>
            <a:srgbClr val="12061F">
              <a:alpha val="92000"/>
            </a:srgbClr>
          </a:solidFill>
          <a:ln w="12700">
            <a:solidFill>
              <a:srgbClr val="6D28D9">
                <a:alpha val="5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05840" y="1737360"/>
            <a:ext cx="5669280" cy="443484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986016" y="1737360"/>
            <a:ext cx="4199839" cy="443484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F2D9B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325880" y="2011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pattern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25880" y="2514600"/>
            <a:ext cx="5029200" cy="1143000"/>
          </a:xfrm>
          <a:prstGeom prst="roundRect">
            <a:avLst/>
          </a:prstGeom>
          <a:solidFill>
            <a:srgbClr val="05020A"/>
          </a:solidFill>
          <a:ln w="12700">
            <a:solidFill>
              <a:srgbClr val="A855F7">
                <a:alpha val="5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527048" y="2679192"/>
            <a:ext cx="4626864" cy="813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[Event]  →  embeddings  →  vector DB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↘  edges       →  graph (CAUSES, SUPPORTS, RISK_OF)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79476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Agents query memory as a first‑class tool (search → evidence → action).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Planner can traverse causal graphs to justify decisions.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Fallback to SQLite vector store for lightweight/offline operation.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06056" y="2011680"/>
            <a:ext cx="3559759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effects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51776" y="2514600"/>
            <a:ext cx="3468319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Cross‑agent continuity: shared context prevents “amnesia.”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trail: decisions become reconstructible paths.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Composable reasoning: retrieval + planning + execution.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06056" y="4572000"/>
            <a:ext cx="3559759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lens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51776" y="4937760"/>
            <a:ext cx="3468319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F5F3FF"/>
                </a:solidFill>
                <a:latin typeface="Calibri"/>
              </a:rPr>
              <a:t>• Markov blanket sets controllability.</a:t>
            </a:r>
            <a:endParaRPr lang="en-US" sz="1800" dirty="0"/>
          </a:p>
          <a:p>
            <a:r>
              <a:rPr sz="1600">
                <a:solidFill>
                  <a:srgbClr val="F5F3FF"/>
                </a:solidFill>
                <a:latin typeface="Calibri"/>
              </a:rPr>
              <a:t>• Minimize surprise: tighten model⇄evidence loops.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416"/>
          </a:solidFill>
          <a:ln/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137160"/>
            <a:ext cx="4892040" cy="4892040"/>
          </a:xfrm>
          <a:prstGeom prst="ellipse">
            <a:avLst/>
          </a:prstGeom>
          <a:solidFill>
            <a:srgbClr val="A855F7">
              <a:alpha val="14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543800" y="2148840"/>
            <a:ext cx="4572000" cy="4572000"/>
          </a:xfrm>
          <a:prstGeom prst="ellipse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720840" y="91440"/>
            <a:ext cx="3749040" cy="3749040"/>
          </a:xfrm>
          <a:prstGeom prst="ellipse">
            <a:avLst/>
          </a:prstGeom>
          <a:solidFill>
            <a:srgbClr val="FF2D9B">
              <a:alpha val="8000"/>
            </a:srgbClr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3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Telemetry &amp; command plane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13232" y="1078992"/>
            <a:ext cx="685800" cy="54864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13232" y="1170432"/>
            <a:ext cx="10765231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UI/WS interface closes the loop: observe, intervene, resume.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10765231" cy="5074920"/>
          </a:xfrm>
          <a:prstGeom prst="roundRect">
            <a:avLst/>
          </a:prstGeom>
          <a:solidFill>
            <a:srgbClr val="12061F">
              <a:alpha val="92000"/>
            </a:srgbClr>
          </a:solidFill>
          <a:ln w="12700">
            <a:solidFill>
              <a:srgbClr val="6D28D9">
                <a:alpha val="5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05840" y="1737360"/>
            <a:ext cx="5715000" cy="443484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031736" y="1737360"/>
            <a:ext cx="4154119" cy="443484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F2D9B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325880" y="201168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telemetry enables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514600"/>
            <a:ext cx="4983480" cy="3383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Real‑time loss/reward traces and curriculum state.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Command channel for pausing, halting, and adjusting parameters.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Operator‑grade observability: what changed, when, and why.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51776" y="2011680"/>
            <a:ext cx="3514039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posture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97496" y="2514600"/>
            <a:ext cx="3422599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Observe → decide → act → verify.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lose control of the loop.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51776" y="3703320"/>
            <a:ext cx="3514039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map (A2A)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97496" y="4069080"/>
            <a:ext cx="3422599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UI/WS → Orchestrator: commands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SafetyAgent → Orchestrator: halt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StrategyAgent → Orchestrator: new_env/reward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Learner: gradients update internal model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20D"/>
          </a:solidFill>
          <a:ln/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137160"/>
            <a:ext cx="4892040" cy="4892040"/>
          </a:xfrm>
          <a:prstGeom prst="ellipse">
            <a:avLst/>
          </a:prstGeom>
          <a:solidFill>
            <a:srgbClr val="A855F7">
              <a:alpha val="14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543800" y="2148840"/>
            <a:ext cx="4572000" cy="4572000"/>
          </a:xfrm>
          <a:prstGeom prst="ellipse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720840" y="91440"/>
            <a:ext cx="3749040" cy="3749040"/>
          </a:xfrm>
          <a:prstGeom prst="ellipse">
            <a:avLst/>
          </a:prstGeom>
          <a:solidFill>
            <a:srgbClr val="FF2D9B">
              <a:alpha val="8000"/>
            </a:srgbClr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3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Tunable control surface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13232" y="1078992"/>
            <a:ext cx="685800" cy="54864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13232" y="1170432"/>
            <a:ext cx="1076523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parameters shape scale, depth, and compute allocation.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10765231" cy="5074920"/>
          </a:xfrm>
          <a:prstGeom prst="roundRect">
            <a:avLst/>
          </a:prstGeom>
          <a:solidFill>
            <a:srgbClr val="12061F">
              <a:alpha val="92000"/>
            </a:srgbClr>
          </a:solidFill>
          <a:ln w="12700">
            <a:solidFill>
              <a:srgbClr val="6D28D9">
                <a:alpha val="5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05840" y="1737360"/>
            <a:ext cx="5486400" cy="443484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803136" y="1737360"/>
            <a:ext cx="4382719" cy="301752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F2D9B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325880" y="20116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config.yaml (selected knobs)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25880" y="2514600"/>
            <a:ext cx="4846320" cy="3291840"/>
          </a:xfrm>
          <a:prstGeom prst="roundRect">
            <a:avLst/>
          </a:prstGeom>
          <a:solidFill>
            <a:srgbClr val="05020A"/>
          </a:solidFill>
          <a:ln w="12700">
            <a:solidFill>
              <a:srgbClr val="A855F7">
                <a:alpha val="5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527048" y="2679192"/>
            <a:ext cx="4443984" cy="2962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env_batch:        parallel environments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hidden:           latent state size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mcts_simulations: rollouts per action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of thumb: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↑env_batch   → breadth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↑hidden      → representational capacity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↑mcts_sims   → planning depth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23176" y="2011680"/>
            <a:ext cx="3742639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(statistical physics lens)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168896" y="2560320"/>
            <a:ext cx="3651199" cy="2194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env_batch increases sampling of the state‑space (better coverage).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hidden sets the dimensionality of the internal order parameter.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mcts_simulations allocates compute to search vs. learning updates.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803136" y="4937760"/>
            <a:ext cx="4382719" cy="155448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43F5E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123176" y="5120640"/>
            <a:ext cx="3742639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aim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68896" y="5486400"/>
            <a:ext cx="3651199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F5F3FF"/>
                </a:solidFill>
                <a:latin typeface="Calibri"/>
              </a:rPr>
              <a:t>• Keep the loop stable, then scale.</a:t>
            </a:r>
            <a:endParaRPr lang="en-US" sz="1700" dirty="0"/>
          </a:p>
          <a:p>
            <a:r>
              <a:rPr sz="1600">
                <a:solidFill>
                  <a:srgbClr val="F5F3FF"/>
                </a:solidFill>
                <a:latin typeface="Calibri"/>
              </a:rPr>
              <a:t>• Spend compute where marginal gain is highest.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416"/>
          </a:solidFill>
          <a:ln/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137160"/>
            <a:ext cx="4892040" cy="4892040"/>
          </a:xfrm>
          <a:prstGeom prst="ellipse">
            <a:avLst/>
          </a:prstGeom>
          <a:solidFill>
            <a:srgbClr val="A855F7">
              <a:alpha val="14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543800" y="2148840"/>
            <a:ext cx="4572000" cy="4572000"/>
          </a:xfrm>
          <a:prstGeom prst="ellipse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720840" y="91440"/>
            <a:ext cx="3749040" cy="3749040"/>
          </a:xfrm>
          <a:prstGeom prst="ellipse">
            <a:avLst/>
          </a:prstGeom>
          <a:solidFill>
            <a:srgbClr val="FF2D9B">
              <a:alpha val="8000"/>
            </a:srgbClr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3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5‑minute quickstart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13232" y="1078992"/>
            <a:ext cx="685800" cy="54864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13232" y="1170432"/>
            <a:ext cx="1076523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clone to running demo UI, end‑to‑end.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10765231" cy="5074920"/>
          </a:xfrm>
          <a:prstGeom prst="roundRect">
            <a:avLst/>
          </a:prstGeom>
          <a:solidFill>
            <a:srgbClr val="12061F">
              <a:alpha val="92000"/>
            </a:srgbClr>
          </a:solidFill>
          <a:ln w="12700">
            <a:solidFill>
              <a:srgbClr val="6D28D9">
                <a:alpha val="5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05840" y="1737360"/>
            <a:ext cx="6492240" cy="443484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808976" y="1737360"/>
            <a:ext cx="3376879" cy="297180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F2D9B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325880" y="201168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25880" y="2514600"/>
            <a:ext cx="5852160" cy="3291840"/>
          </a:xfrm>
          <a:prstGeom prst="roundRect">
            <a:avLst/>
          </a:prstGeom>
          <a:solidFill>
            <a:srgbClr val="05020A"/>
          </a:solidFill>
          <a:ln w="12700">
            <a:solidFill>
              <a:srgbClr val="A855F7">
                <a:alpha val="5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527048" y="2679192"/>
            <a:ext cx="5449824" cy="2962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--branch v0.1.0-alpha https://github.com/MontrealAI/AGI-Alpha-Agent-v0.git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AGI-Alpha-Agent-v0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./quickstart.sh --preflight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check_env.py --auto-install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alpha-asi-demo --demo    # launch the world-model UI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9016" y="2011680"/>
            <a:ext cx="2736799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74736" y="2514600"/>
            <a:ext cx="2645359" cy="2057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sz="1600" dirty="0">
                <a:solidFill>
                  <a:srgbClr val="F5F3FF"/>
                </a:solidFill>
                <a:latin typeface="Calibri"/>
              </a:rPr>
              <a:t>• Orchestrator starts loop → streams telemetry.</a:t>
            </a:r>
            <a:endParaRPr lang="en-US" sz="1700" dirty="0"/>
          </a:p>
          <a:p>
            <a:r>
              <a:rPr sz="1600" dirty="0">
                <a:solidFill>
                  <a:srgbClr val="F5F3FF"/>
                </a:solidFill>
                <a:latin typeface="Calibri"/>
              </a:rPr>
              <a:t>• POET populates a mini‑world pool.</a:t>
            </a:r>
          </a:p>
          <a:p>
            <a:r>
              <a:rPr sz="1600" dirty="0">
                <a:solidFill>
                  <a:srgbClr val="F5F3FF"/>
                </a:solidFill>
                <a:latin typeface="Calibri"/>
              </a:rPr>
              <a:t>• Learner trains w/ planning (</a:t>
            </a:r>
            <a:r>
              <a:rPr sz="1600" dirty="0" err="1">
                <a:solidFill>
                  <a:srgbClr val="F5F3FF"/>
                </a:solidFill>
                <a:latin typeface="Calibri"/>
              </a:rPr>
              <a:t>MuZero</a:t>
            </a:r>
            <a:r>
              <a:rPr sz="1600" dirty="0">
                <a:solidFill>
                  <a:srgbClr val="F5F3FF"/>
                </a:solidFill>
                <a:latin typeface="Calibri"/>
              </a:rPr>
              <a:t>‑style).</a:t>
            </a:r>
          </a:p>
          <a:p>
            <a:r>
              <a:rPr sz="1600" dirty="0">
                <a:solidFill>
                  <a:srgbClr val="F5F3FF"/>
                </a:solidFill>
                <a:latin typeface="Calibri"/>
              </a:rPr>
              <a:t>• </a:t>
            </a:r>
            <a:r>
              <a:rPr sz="1600" dirty="0" err="1">
                <a:solidFill>
                  <a:srgbClr val="F5F3FF"/>
                </a:solidFill>
                <a:latin typeface="Calibri"/>
              </a:rPr>
              <a:t>SafetyAgent</a:t>
            </a:r>
            <a:r>
              <a:rPr sz="1600" dirty="0">
                <a:solidFill>
                  <a:srgbClr val="F5F3FF"/>
                </a:solidFill>
                <a:latin typeface="Calibri"/>
              </a:rPr>
              <a:t> halts on instability.</a:t>
            </a:r>
          </a:p>
        </p:txBody>
      </p:sp>
      <p:sp>
        <p:nvSpPr>
          <p:cNvPr id="17" name="Shape 15"/>
          <p:cNvSpPr/>
          <p:nvPr/>
        </p:nvSpPr>
        <p:spPr>
          <a:xfrm>
            <a:off x="7808976" y="4809880"/>
            <a:ext cx="3376879" cy="160020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43F5E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129016" y="4974472"/>
            <a:ext cx="2736799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74736" y="5358520"/>
            <a:ext cx="2645359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sz="1600" dirty="0">
                <a:solidFill>
                  <a:srgbClr val="F5F3FF"/>
                </a:solidFill>
                <a:latin typeface="Calibri"/>
              </a:rPr>
              <a:t>Start stable → scale parameters</a:t>
            </a:r>
            <a:endParaRPr lang="en-US" sz="1700" dirty="0"/>
          </a:p>
          <a:p>
            <a:r>
              <a:rPr sz="1600" dirty="0">
                <a:solidFill>
                  <a:srgbClr val="F5F3FF"/>
                </a:solidFill>
                <a:latin typeface="Calibri"/>
              </a:rPr>
              <a:t>→ verify telemetry → iterate.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20D"/>
          </a:solidFill>
          <a:ln/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137160"/>
            <a:ext cx="4892040" cy="4892040"/>
          </a:xfrm>
          <a:prstGeom prst="ellipse">
            <a:avLst/>
          </a:prstGeom>
          <a:solidFill>
            <a:srgbClr val="A855F7">
              <a:alpha val="14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543800" y="2148840"/>
            <a:ext cx="4572000" cy="4572000"/>
          </a:xfrm>
          <a:prstGeom prst="ellipse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720840" y="91440"/>
            <a:ext cx="3749040" cy="3749040"/>
          </a:xfrm>
          <a:prstGeom prst="ellipse">
            <a:avLst/>
          </a:prstGeom>
          <a:solidFill>
            <a:srgbClr val="FF2D9B">
              <a:alpha val="8000"/>
            </a:srgbClr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3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Offline‑safe operation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13232" y="1078992"/>
            <a:ext cx="685800" cy="54864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13232" y="1170432"/>
            <a:ext cx="10765231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degradation: keep running when the world is hostile.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1600200"/>
            <a:ext cx="3381146" cy="201168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41832" y="1828800"/>
            <a:ext cx="54864" cy="42062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9848" y="1810512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313432"/>
            <a:ext cx="279593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Fallback to local quantized model path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Lower throughput, same loop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Focus on stability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05274" y="1600200"/>
            <a:ext cx="3381146" cy="201168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F2D9B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633874" y="1828800"/>
            <a:ext cx="54864" cy="420624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61890" y="1810512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97882" y="2313432"/>
            <a:ext cx="279593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to local embeddings + heuristics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Continue agent coordination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Preserve determinism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97317" y="1600200"/>
            <a:ext cx="3381146" cy="201168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43F5E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325917" y="1828800"/>
            <a:ext cx="54864" cy="42062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453933" y="1810512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89925" y="2313432"/>
            <a:ext cx="279593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Wheelhouse install path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Pinned deps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Reproducible runs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3232" y="3977640"/>
            <a:ext cx="10765231" cy="2148840"/>
          </a:xfrm>
          <a:prstGeom prst="roundRect">
            <a:avLst/>
          </a:prstGeom>
          <a:solidFill>
            <a:srgbClr val="12061F">
              <a:alpha val="92000"/>
            </a:srgbClr>
          </a:solidFill>
          <a:ln w="12700">
            <a:solidFill>
              <a:srgbClr val="6D28D9">
                <a:alpha val="50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33272" y="4251960"/>
            <a:ext cx="10125151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posture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78992" y="4754880"/>
            <a:ext cx="10033711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Prefer local‑first paths; treat network services as accelerators, not dependencies.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Verify checksums and pinned versions for deterministic deployment.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telemetry enabled: trust comes from observability.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416"/>
          </a:solidFill>
          <a:ln/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137160"/>
            <a:ext cx="4892040" cy="4892040"/>
          </a:xfrm>
          <a:prstGeom prst="ellipse">
            <a:avLst/>
          </a:prstGeom>
          <a:solidFill>
            <a:srgbClr val="A855F7">
              <a:alpha val="14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543800" y="2148840"/>
            <a:ext cx="4572000" cy="4572000"/>
          </a:xfrm>
          <a:prstGeom prst="ellipse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720840" y="91440"/>
            <a:ext cx="3749040" cy="3749040"/>
          </a:xfrm>
          <a:prstGeom prst="ellipse">
            <a:avLst/>
          </a:prstGeom>
          <a:solidFill>
            <a:srgbClr val="FF2D9B">
              <a:alpha val="8000"/>
            </a:srgbClr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3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Multi‑scale consequences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13232" y="1078992"/>
            <a:ext cx="685800" cy="54864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13232" y="1170432"/>
            <a:ext cx="1076523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loop can harvest opportunity across scales.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1508760"/>
            <a:ext cx="10765231" cy="960120"/>
          </a:xfrm>
          <a:prstGeom prst="roundRect">
            <a:avLst/>
          </a:prstGeom>
          <a:solidFill>
            <a:srgbClr val="12061F">
              <a:alpha val="92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33272" y="1709928"/>
            <a:ext cx="10125151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Energy‑landscape framing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33272" y="2057400"/>
            <a:ext cx="10125151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“Cells with Δ𝓕 &lt; 0 glow; agents race to harvest.”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3232" y="2697480"/>
            <a:ext cx="3381146" cy="242316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41832" y="2926080"/>
            <a:ext cx="54864" cy="42062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69848" y="2907792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(Δβ)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410712"/>
            <a:ext cx="2795930" cy="1508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Finance signals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Energy markets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Policy shifts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405274" y="2697480"/>
            <a:ext cx="3381146" cy="242316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F2D9B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633874" y="2926080"/>
            <a:ext cx="54864" cy="420624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61890" y="2907792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Meso (ΔS)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97882" y="3410712"/>
            <a:ext cx="2795930" cy="1508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Supply chains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Manufacturing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Logistics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97317" y="2697480"/>
            <a:ext cx="3381146" cy="242316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43F5E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325917" y="2926080"/>
            <a:ext cx="54864" cy="42062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453933" y="2907792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(ΔH)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89925" y="3410712"/>
            <a:ext cx="2795930" cy="1508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Biotech targets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Materials search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Chemistry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3232" y="6510528"/>
            <a:ext cx="10765231" cy="256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C8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Metaphor anchored by repository README multi‑scale diagram excerpt.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20D"/>
          </a:solidFill>
          <a:ln/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137160"/>
            <a:ext cx="4892040" cy="4892040"/>
          </a:xfrm>
          <a:prstGeom prst="ellipse">
            <a:avLst/>
          </a:prstGeom>
          <a:solidFill>
            <a:srgbClr val="A855F7">
              <a:alpha val="14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543800" y="2148840"/>
            <a:ext cx="4572000" cy="4572000"/>
          </a:xfrm>
          <a:prstGeom prst="ellipse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720840" y="91440"/>
            <a:ext cx="3749040" cy="3749040"/>
          </a:xfrm>
          <a:prstGeom prst="ellipse">
            <a:avLst/>
          </a:prstGeom>
          <a:solidFill>
            <a:srgbClr val="FF2D9B">
              <a:alpha val="8000"/>
            </a:srgbClr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3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First‑principles lens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13232" y="1078992"/>
            <a:ext cx="685800" cy="54864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13232" y="1170432"/>
            <a:ext cx="10765231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energy, Hamiltonians, autopoiesis: why the path becomes simple.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1600200"/>
            <a:ext cx="3381146" cy="233172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41832" y="1828800"/>
            <a:ext cx="54864" cy="42062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9848" y="1810512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free energy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313432"/>
            <a:ext cx="2795930" cy="1417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Minimize surprise via model evidence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Perception‑action loop as inference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Tighten prediction → correction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05274" y="1600200"/>
            <a:ext cx="3381146" cy="233172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F2D9B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633874" y="1828800"/>
            <a:ext cx="54864" cy="420624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61890" y="1810512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 flow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97882" y="2313432"/>
            <a:ext cx="2795930" cy="1417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follows structured trajectories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Conserve signal; dissipate noise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Exploit symmetry when it appears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97317" y="1600200"/>
            <a:ext cx="3381146" cy="233172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43F5E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325917" y="1828800"/>
            <a:ext cx="54864" cy="42062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453933" y="1810512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Autopoiesis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89925" y="2313432"/>
            <a:ext cx="2795930" cy="1417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Agents regenerate tools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Loop maintains itself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Capability compounds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3232" y="4160520"/>
            <a:ext cx="10765231" cy="1965960"/>
          </a:xfrm>
          <a:prstGeom prst="roundRect">
            <a:avLst/>
          </a:prstGeom>
          <a:solidFill>
            <a:srgbClr val="12061F">
              <a:alpha val="92000"/>
            </a:srgbClr>
          </a:solidFill>
          <a:ln w="12700">
            <a:solidFill>
              <a:srgbClr val="6D28D9">
                <a:alpha val="50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33272" y="4434840"/>
            <a:ext cx="10125151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translation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78992" y="4937760"/>
            <a:ext cx="10033711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system keeps reducing uncertainty while expanding its own training distribution.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is spent where it most reduces expected error (search vs. update).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Stability guardrails preserve coherence as scale increases.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416"/>
          </a:solidFill>
          <a:ln/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137160"/>
            <a:ext cx="4892040" cy="4892040"/>
          </a:xfrm>
          <a:prstGeom prst="ellipse">
            <a:avLst/>
          </a:prstGeom>
          <a:solidFill>
            <a:srgbClr val="A855F7">
              <a:alpha val="14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543800" y="2148840"/>
            <a:ext cx="4572000" cy="4572000"/>
          </a:xfrm>
          <a:prstGeom prst="ellipse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720840" y="91440"/>
            <a:ext cx="3749040" cy="3749040"/>
          </a:xfrm>
          <a:prstGeom prst="ellipse">
            <a:avLst/>
          </a:prstGeom>
          <a:solidFill>
            <a:srgbClr val="FF2D9B">
              <a:alpha val="8000"/>
            </a:srgbClr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3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Roadmap (operational)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13232" y="1078992"/>
            <a:ext cx="685800" cy="54864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13232" y="1170432"/>
            <a:ext cx="1076523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validate, and harden the loop.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1600200"/>
            <a:ext cx="3381146" cy="224028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41832" y="1828800"/>
            <a:ext cx="54864" cy="42062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9848" y="1810512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Stabilize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313432"/>
            <a:ext cx="2795930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conservative defaults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Telemetry baselines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Reproducible runs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05274" y="1600200"/>
            <a:ext cx="3381146" cy="224028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F2D9B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633874" y="1828800"/>
            <a:ext cx="54864" cy="420624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61890" y="1810512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Scale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97882" y="2313432"/>
            <a:ext cx="2795930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Increase env_batch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Tune hidden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Allocate MCTS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097317" y="1600200"/>
            <a:ext cx="3381146" cy="224028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43F5E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325917" y="1828800"/>
            <a:ext cx="54864" cy="42062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453933" y="1810512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Institutionalize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89925" y="2313432"/>
            <a:ext cx="2795930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Safety gates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&amp; provenance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Deployment playbooks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13232" y="4160520"/>
            <a:ext cx="10765231" cy="1965960"/>
          </a:xfrm>
          <a:prstGeom prst="roundRect">
            <a:avLst/>
          </a:prstGeom>
          <a:solidFill>
            <a:srgbClr val="12061F">
              <a:alpha val="92000"/>
            </a:srgbClr>
          </a:solidFill>
          <a:ln w="12700">
            <a:solidFill>
              <a:srgbClr val="FF2D9B">
                <a:alpha val="5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33272" y="4617720"/>
            <a:ext cx="10125151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NEVER TRADE OBSERVABILITY FOR SPEED.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20D"/>
          </a:solidFill>
          <a:ln/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137160"/>
            <a:ext cx="4892040" cy="4892040"/>
          </a:xfrm>
          <a:prstGeom prst="ellipse">
            <a:avLst/>
          </a:prstGeom>
          <a:solidFill>
            <a:srgbClr val="A855F7">
              <a:alpha val="14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543800" y="2148840"/>
            <a:ext cx="4572000" cy="4572000"/>
          </a:xfrm>
          <a:prstGeom prst="ellipse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720840" y="91440"/>
            <a:ext cx="3749040" cy="3749040"/>
          </a:xfrm>
          <a:prstGeom prst="ellipse">
            <a:avLst/>
          </a:prstGeom>
          <a:solidFill>
            <a:srgbClr val="FF2D9B">
              <a:alpha val="8000"/>
            </a:srgbClr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960120"/>
            <a:ext cx="10765231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5F3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 the loop.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5547208" y="1755648"/>
            <a:ext cx="1097280" cy="73152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536192" y="1965960"/>
            <a:ext cx="9119311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world‑model that generates its own curriculum, plans under uncertainty, and coordinates specialized agents — with safety as a first‑class signal.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24912" y="2971800"/>
            <a:ext cx="6741871" cy="1051560"/>
          </a:xfrm>
          <a:prstGeom prst="roundRect">
            <a:avLst/>
          </a:prstGeom>
          <a:solidFill>
            <a:srgbClr val="12061F">
              <a:alpha val="94000"/>
            </a:srgbClr>
          </a:solidFill>
          <a:ln w="12700">
            <a:solidFill>
              <a:srgbClr val="A855F7">
                <a:alpha val="5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907792" y="3246120"/>
            <a:ext cx="6376111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alpha-asi-demo --demo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13232" y="4343400"/>
            <a:ext cx="10765231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9C8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github.com/MontrealAI/AGI-Alpha-Agent-v0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" y="4892040"/>
            <a:ext cx="3381146" cy="182880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41832" y="5093208"/>
            <a:ext cx="54864" cy="594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69848" y="5074920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5577840"/>
            <a:ext cx="2795930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F5F3FF"/>
                </a:solidFill>
                <a:latin typeface="Calibri"/>
              </a:rPr>
              <a:t>• Start stable defaults</a:t>
            </a:r>
            <a:endParaRPr lang="en-US" sz="1500" dirty="0"/>
          </a:p>
          <a:p>
            <a:r>
              <a:rPr sz="1500">
                <a:solidFill>
                  <a:srgbClr val="F5F3FF"/>
                </a:solidFill>
                <a:latin typeface="Calibri"/>
              </a:rPr>
              <a:t>• Offline‑safe path</a:t>
            </a:r>
          </a:p>
          <a:p>
            <a:r>
              <a:rPr sz="1500">
                <a:solidFill>
                  <a:srgbClr val="F5F3FF"/>
                </a:solidFill>
                <a:latin typeface="Calibri"/>
              </a:rPr>
              <a:t>• Deterministic deps</a:t>
            </a:r>
          </a:p>
        </p:txBody>
      </p:sp>
      <p:sp>
        <p:nvSpPr>
          <p:cNvPr id="16" name="Shape 14"/>
          <p:cNvSpPr/>
          <p:nvPr/>
        </p:nvSpPr>
        <p:spPr>
          <a:xfrm>
            <a:off x="4405274" y="4892040"/>
            <a:ext cx="3381146" cy="182880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F2D9B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633874" y="5093208"/>
            <a:ext cx="54864" cy="594360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61890" y="5074920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97882" y="5577840"/>
            <a:ext cx="2795930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F5F3FF"/>
                </a:solidFill>
                <a:latin typeface="Calibri"/>
              </a:rPr>
              <a:t>• Loss + reward traces</a:t>
            </a:r>
            <a:endParaRPr lang="en-US" sz="1500" dirty="0"/>
          </a:p>
          <a:p>
            <a:r>
              <a:rPr sz="1500">
                <a:solidFill>
                  <a:srgbClr val="F5F3FF"/>
                </a:solidFill>
                <a:latin typeface="Calibri"/>
              </a:rPr>
              <a:t>• Curriculum state</a:t>
            </a:r>
          </a:p>
          <a:p>
            <a:r>
              <a:rPr sz="1500">
                <a:solidFill>
                  <a:srgbClr val="F5F3FF"/>
                </a:solidFill>
                <a:latin typeface="Calibri"/>
              </a:rPr>
              <a:t>• Operator controls</a:t>
            </a:r>
          </a:p>
        </p:txBody>
      </p:sp>
      <p:sp>
        <p:nvSpPr>
          <p:cNvPr id="20" name="Shape 18"/>
          <p:cNvSpPr/>
          <p:nvPr/>
        </p:nvSpPr>
        <p:spPr>
          <a:xfrm>
            <a:off x="8097317" y="4892040"/>
            <a:ext cx="3381146" cy="1828800"/>
          </a:xfrm>
          <a:prstGeom prst="roundRect">
            <a:avLst/>
          </a:prstGeom>
          <a:solidFill>
            <a:srgbClr val="170927">
              <a:alpha val="90000"/>
            </a:srgbClr>
          </a:solidFill>
          <a:ln w="12700">
            <a:solidFill>
              <a:srgbClr val="F43F5E">
                <a:alpha val="4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325917" y="5093208"/>
            <a:ext cx="54864" cy="5943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453933" y="5074920"/>
            <a:ext cx="279593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89925" y="5577840"/>
            <a:ext cx="2795930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F5F3FF"/>
                </a:solidFill>
                <a:latin typeface="Calibri"/>
              </a:rPr>
              <a:t>• Tune env_batch / hidden / MCTS</a:t>
            </a:r>
            <a:endParaRPr lang="en-US" sz="1500" dirty="0"/>
          </a:p>
          <a:p>
            <a:r>
              <a:rPr sz="1500">
                <a:solidFill>
                  <a:srgbClr val="F5F3FF"/>
                </a:solidFill>
                <a:latin typeface="Calibri"/>
              </a:rPr>
              <a:t>• Validate improvements</a:t>
            </a:r>
          </a:p>
          <a:p>
            <a:r>
              <a:rPr sz="1500">
                <a:solidFill>
                  <a:srgbClr val="F5F3FF"/>
                </a:solidFill>
                <a:latin typeface="Calibri"/>
              </a:rPr>
              <a:t>• Harden safety gates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416"/>
          </a:solidFill>
          <a:ln/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37160" y="137160"/>
            <a:ext cx="4892040" cy="4892040"/>
          </a:xfrm>
          <a:prstGeom prst="ellipse">
            <a:avLst/>
          </a:prstGeom>
          <a:solidFill>
            <a:srgbClr val="A855F7">
              <a:alpha val="14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543800" y="2148840"/>
            <a:ext cx="4572000" cy="4572000"/>
          </a:xfrm>
          <a:prstGeom prst="ellipse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720840" y="91440"/>
            <a:ext cx="3749040" cy="3749040"/>
          </a:xfrm>
          <a:prstGeom prst="ellipse">
            <a:avLst/>
          </a:prstGeom>
          <a:solidFill>
            <a:srgbClr val="FF2D9B">
              <a:alpha val="8000"/>
            </a:srgbClr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5F3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References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13232" y="1078992"/>
            <a:ext cx="685800" cy="54864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>
                <a:alpha val="0"/>
              </a:srgbClr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13232" y="1170432"/>
            <a:ext cx="1076523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7B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sources used in this deck.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1508760"/>
            <a:ext cx="10765231" cy="4617720"/>
          </a:xfrm>
          <a:prstGeom prst="roundRect">
            <a:avLst/>
          </a:prstGeom>
          <a:solidFill>
            <a:srgbClr val="12061F">
              <a:alpha val="92000"/>
            </a:srgbClr>
          </a:solidFill>
          <a:ln w="12700">
            <a:solidFill>
              <a:srgbClr val="6D28D9">
                <a:alpha val="55000"/>
              </a:srgbClr>
            </a:solidFill>
            <a:prstDash val="solid"/>
          </a:ln>
        </p:spPr>
        <p:txBody>
          <a:bodyPr wrap="square" anchor="t">
            <a:normAutofit/>
          </a:bodyPr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216152" y="1874520"/>
            <a:ext cx="9759391" cy="402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MontrealAI/AGI-Alpha-Agent-v0 (README: α‑ASI World‑Model Demo, bus diagram, quickstart, tuning knobs)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Schrittwieser et al. “MuZero” (arXiv:1911.08265; Nature 2020)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Wang et al. “POET” (arXiv:1901.01753)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Friston / Free Energy Principle (overview for interpretive lens)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1689</Words>
  <Application>Microsoft Macintosh PowerPoint</Application>
  <PresentationFormat>Widescreen</PresentationFormat>
  <Paragraphs>283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Vincent Boucher</cp:lastModifiedBy>
  <cp:revision>2</cp:revision>
  <dcterms:created xsi:type="dcterms:W3CDTF">2026-01-10T15:10:16Z</dcterms:created>
  <dcterms:modified xsi:type="dcterms:W3CDTF">2026-01-10T16:59:20Z</dcterms:modified>
</cp:coreProperties>
</file>