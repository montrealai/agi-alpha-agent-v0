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3.jpg" ContentType="image/jp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6.jpg" ContentType="image/jp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981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https://svs.gsfc.nasa.gov/31197 (background image source: carina_nebula_00000_print.jpg)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(offline fallback + Insight demo CLI, and dashboard “3‑D scatter chart of effectiveness vs. risk vs. complexity”)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(Insight demo description and runtime selection; capability curve is illustrative)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(Insight demo: CLI, runtime fallback; health/status endpoints; audit ledger path; IPFS gateway env var)
- https://unsplash.com/photos/servers-illuminate-a-futuristic-cityscape-with-a-data-center-ISP9CdRYS28 (image)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("falls back to the local Meta‑Agentic Tree Search" when API credentials are absent; dashboard “3‑D scatter chart of effectiveness vs. risk vs. complexity”)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(Insight CLI example includes --energy and --entropy parameters; free‑energy equation shown is an interpretation layer)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(supported env vars incl. AGI_INSIGHT_OFFLINE, AGI_INSIGHT_LEDGER_PATH, bus TLS vars, API_TOKEN, sandbox limits; metrics endpoint; /healthz and /status described)
- https://unsplash.com/photos/a-rack-of-servers-in-a-server-room-2JJ3wBHu4_0 (image)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(CLI output example; dashboard 3‑D scatter; audit ledger path; health/status endpoints; offline mode guidance)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(sample sectors file path; Insight CLI; agents-status; /status endpoint; runtime fallback)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(offline fallback behavior; AGI_INSIGHT_OFFLINE=1; wheelhouse steps; LLAMA_MODEL_PATH; offline asset build steps)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(web dashboard quick-start; health criteria for Compose stack; /healthz and /status; 3‑D scatter plot description; /metrics endpoint)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(deployment recipes: Compose/Helm; edge_runner; agents service resource limits and network_mode: none; audit ledger persistence guidance)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(sandbox limits env vars; API_TOKEN; gRPC bus TLS vars; network_mode none; /metrics; governance &amp; policy runbook references)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(3‑D scatter output; affected steps/years output; audit ledger persistence)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(dashboard objective axes: effectiveness vs. risk vs. complexity; equation shown is an interpretation layer)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(definition of Meta‑Agentic; system description sections referenced)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(offline-first claim; CLI + web tooling; deployment and security controls enabling fast iterative scenario runs)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https://github.com/MontrealAI/AGI-Alpha-Agent-v0 (parameters for offline runs; audit ledger path; security controls; 3‑D scatter objective axes)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https://unsplash.com/photos/servers-illuminate-a-futuristic-cityscape-with-a-data-center-ISP9CdRYS28 (background image)
- https://github.com/MontrealAI/AGI-Alpha-Agent-v0 (system description, offline capability, deployment guidance)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GI-M0SS_16x9_1920x1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>
              <a:alpha val="60000"/>
            </a:srgbClr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4681728"/>
            <a:ext cx="12191695" cy="1581912"/>
          </a:xfrm>
          <a:prstGeom prst="rect">
            <a:avLst/>
          </a:prstGeom>
          <a:solidFill>
            <a:srgbClr val="070A12">
              <a:alpha val="85000"/>
            </a:srgbClr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85800" y="4572000"/>
            <a:ext cx="10972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α‑AGI Insight v1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13232" y="54132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Beyond Human Foresight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5715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zero‑data, offline‑first, meta‑agentic forecasting demo: map AGI‑driven sector phase transitions and actionable decision frontiers.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544567"/>
            <a:ext cx="54864" cy="1719073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brief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master presentation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demo delivers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36118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04088" y="1618488"/>
            <a:ext cx="54864" cy="1335024"/>
          </a:xfrm>
          <a:prstGeom prst="rect">
            <a:avLst/>
          </a:prstGeom>
          <a:solidFill>
            <a:srgbClr val="43F5A0"/>
          </a:solidFill>
          <a:ln w="12700">
            <a:solidFill>
              <a:srgbClr val="43F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86968" y="1764792"/>
            <a:ext cx="3319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2075688"/>
            <a:ext cx="3319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Offline‑first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86968" y="2624328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with or without API keys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36118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498848" y="1618488"/>
            <a:ext cx="54864" cy="133502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81728" y="1764792"/>
            <a:ext cx="3319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075688"/>
            <a:ext cx="3319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Meta‑Agentic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81728" y="2624328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Falls back to local tree‑search runtime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75320" y="1600200"/>
            <a:ext cx="36118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93608" y="1618488"/>
            <a:ext cx="54864" cy="1335024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76488" y="1764792"/>
            <a:ext cx="3319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76488" y="2075688"/>
            <a:ext cx="3319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frontier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76488" y="2624328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3‑D scatter: effectiveness × risk × complexity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127248"/>
            <a:ext cx="11201400" cy="313639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60120" y="34015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run, you obtain: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794760"/>
            <a:ext cx="10607040" cy="1029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calibrated capability curve and scenario controls (episodes, curve parameters, offline mode).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population of candidate innovations evaluated across competing objectives (effectiveness, risk, complexity).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outputs: first affected step/year, live agent status, and exportable results for decision playbooks.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discontinuity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smooth trends to regime shifts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AGI impact is not linear — it arrives as phase change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demo operationalizes “tipping points” as thresholds on a capability trajectory, then explores response options under competing objectives.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6903720" cy="4507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curve (illustrative)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755648"/>
            <a:ext cx="4069080" cy="450799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092440" y="1938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2440" y="2304288"/>
            <a:ext cx="3566160" cy="922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represent domain susceptibility (automation → design → discovery).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Crossing a threshold is a regime shift: decisions must change, not just pace.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demo’s role: explore the option space, then surface robust strategies.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19</a:t>
            </a:r>
            <a:endParaRPr lang="en-US" sz="900" dirty="0"/>
          </a:p>
        </p:txBody>
      </p:sp>
      <p:pic>
        <p:nvPicPr>
          <p:cNvPr id="17" name="Picture 16" descr="slide3_capabil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50008"/>
            <a:ext cx="644652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at a glance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 → search → outputs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α‑AGI Insight v1: meta‑agentic orchestration around an offline‑capable search loop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71500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176272"/>
            <a:ext cx="5166360" cy="960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0120" y="2176272"/>
            <a:ext cx="73152" cy="9601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15568" y="23042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59689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Sectors JSON, curve parameters, episodes, offline flags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3063240"/>
            <a:ext cx="274320" cy="228600"/>
          </a:xfrm>
          <a:prstGeom prst="downArrow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60120" y="3291840"/>
            <a:ext cx="5166360" cy="960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60120" y="3291840"/>
            <a:ext cx="73152" cy="9601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15568" y="341985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71246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selection, status, health, agent coordination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4178808"/>
            <a:ext cx="274320" cy="228600"/>
          </a:xfrm>
          <a:prstGeom prst="downArrow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60120" y="4407408"/>
            <a:ext cx="5166360" cy="960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60120" y="4407408"/>
            <a:ext cx="73152" cy="960120"/>
          </a:xfrm>
          <a:prstGeom prst="rect">
            <a:avLst/>
          </a:prstGeom>
          <a:solidFill>
            <a:srgbClr val="43F5A0"/>
          </a:solidFill>
          <a:ln w="12700">
            <a:solidFill>
              <a:srgbClr val="43F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115568" y="45354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loop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482803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Meta‑Agentic Tree Search (offline fallback)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5294376"/>
            <a:ext cx="274320" cy="228600"/>
          </a:xfrm>
          <a:prstGeom prst="downArrow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60120" y="5495543"/>
            <a:ext cx="5166360" cy="768097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60120" y="5495543"/>
            <a:ext cx="73152" cy="768097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115568" y="54498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outputs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574243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Affected steps/years, frontier scatter, logs &amp; exports</a:t>
            </a:r>
            <a:endParaRPr lang="en-US" sz="1100" dirty="0"/>
          </a:p>
        </p:txBody>
      </p:sp>
      <p:pic>
        <p:nvPicPr>
          <p:cNvPr id="28" name="Image 0" descr="/mnt/data/assets/unsplash_futuristic_city_data_center.jpg"/>
          <p:cNvPicPr>
            <a:picLocks noChangeAspect="1"/>
          </p:cNvPicPr>
          <p:nvPr/>
        </p:nvPicPr>
        <p:blipFill>
          <a:blip r:embed="rId3"/>
          <a:srcRect l="313" r="313"/>
          <a:stretch/>
        </p:blipFill>
        <p:spPr>
          <a:xfrm>
            <a:off x="6583680" y="1627632"/>
            <a:ext cx="5330952" cy="2816352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83680" y="1627632"/>
            <a:ext cx="5330952" cy="281635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6903720" y="18745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Foresight becomes infrastructure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903720" y="23317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scenarios fast. Audit runs. Export decisions.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583680" y="4526280"/>
            <a:ext cx="5330952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858000" y="4736592"/>
            <a:ext cx="4800600" cy="922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and web modes; can run headless.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Health/status endpoints + agent heartbeats.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audit ledger for traceability; optional pinning via gateway.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mechanism 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Meta‑Agentic Tree Search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Offline‑capable search loop: explore → evaluate → retain the frontier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automatically falls back to a local Meta‑Agentic Tree Search when API credentials are absent.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544068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8928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loop (conceptual)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81328" y="2743200"/>
            <a:ext cx="1554480" cy="6400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81328" y="290779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67328" y="2743200"/>
            <a:ext cx="1554480" cy="6400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767328" y="290779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24528" y="4389120"/>
            <a:ext cx="1554480" cy="6400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224528" y="45537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52928" y="5029200"/>
            <a:ext cx="1554480" cy="6400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852928" y="519379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89888" y="4389120"/>
            <a:ext cx="1554480" cy="6400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389888" y="45537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35808" y="3063240"/>
            <a:ext cx="7315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321808" y="3063240"/>
            <a:ext cx="0" cy="164592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779008" y="4709160"/>
            <a:ext cx="0" cy="64008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407408" y="5349240"/>
            <a:ext cx="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944368" y="4709160"/>
            <a:ext cx="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55080" y="1709928"/>
            <a:ext cx="553212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29400" y="189280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frontier (illustrative projection)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19</a:t>
            </a:r>
            <a:endParaRPr lang="en-US" sz="900" dirty="0"/>
          </a:p>
        </p:txBody>
      </p:sp>
      <p:pic>
        <p:nvPicPr>
          <p:cNvPr id="31" name="Picture 30" descr="slide5_pareto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50008"/>
            <a:ext cx="498348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mechanism 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Energy–entropy controls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Thermodynamic lens: stability vs uncertainty as scenario controls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exposes explicit “energy” and “entropy” knobs. A useful interpretation is a free‑energy threshold that marks regime change.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544068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8928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sketch (interpretation)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E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 = E − T·S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60120" y="2971800"/>
            <a:ext cx="4983480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(energy): structural stability / barriers to change.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(entropy): uncertainty / degrees of freedom exploited by new capability.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T: capability “temperature” — increases over time via the configured curve.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Crossing G ≤ 0 is a natural marker for “phase transition”.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709928"/>
            <a:ext cx="553212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29400" y="189280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marker (illustrative)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29400" y="52852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“Energy” and “entropy” are first‑class CLI parameters for the Insight simulation.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19</a:t>
            </a:r>
            <a:endParaRPr lang="en-US" sz="900" dirty="0"/>
          </a:p>
        </p:txBody>
      </p:sp>
      <p:pic>
        <p:nvPicPr>
          <p:cNvPr id="19" name="Picture 18" descr="slide6_free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50008"/>
            <a:ext cx="49834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mechanism III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Orchestration, governance, observability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control surface: status, health, tokens, TLS, sandbox limits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system is one you can deploy, observe, constrain, and audit.</a:t>
            </a:r>
            <a:endParaRPr lang="en-US" sz="1300" dirty="0"/>
          </a:p>
        </p:txBody>
      </p:sp>
      <p:pic>
        <p:nvPicPr>
          <p:cNvPr id="8" name="Image 0" descr="/mnt/data/assets/unsplash_server_kevinache.jpg"/>
          <p:cNvPicPr>
            <a:picLocks noChangeAspect="1"/>
          </p:cNvPicPr>
          <p:nvPr/>
        </p:nvPicPr>
        <p:blipFill>
          <a:blip r:embed="rId3"/>
          <a:srcRect l="19608" r="19608"/>
          <a:stretch/>
        </p:blipFill>
        <p:spPr>
          <a:xfrm>
            <a:off x="685800" y="1709928"/>
            <a:ext cx="4251960" cy="45537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709928"/>
            <a:ext cx="4251960" cy="455371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960120" y="196596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Sandboxed execution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bounded resources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166360" y="1709928"/>
            <a:ext cx="672084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440680" y="189280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&amp; runtime controls (from the demo)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40680" y="2331720"/>
            <a:ext cx="6172200" cy="56692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605272" y="24414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AGI_INSIGHT_OFFLINE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95360" y="244144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 local inference models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40680" y="3008376"/>
            <a:ext cx="6172200" cy="56692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605272" y="311810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AGI_INSIGHT_LEDGER_PATH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95360" y="311810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audit ledger path (audit.db)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40680" y="3685032"/>
            <a:ext cx="6172200" cy="56692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5605272" y="37947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AGI_INSIGHT_BUS_CERT / KEY / TOKEN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95360" y="37947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gRPC transport and auth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40680" y="4361688"/>
            <a:ext cx="6172200" cy="56692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605272" y="447141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API_TOKEN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95360" y="447141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Bearer token required by REST API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40680" y="5038344"/>
            <a:ext cx="6172200" cy="56692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5605272" y="514807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SANDBOX_CPU_SEC / SANDBOX_MEM_MB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595360" y="514807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limits for sandboxed code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40680" y="596188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Health: /healthz • Live status: /status • Metrics: /metrics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simulation to decisions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deliverable is a decision surface, not a single forecast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outputs as: “what becomes possible” + “what becomes fragile” + “which moves dominate under constraints.”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3703320" cy="4507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04088" y="1773936"/>
            <a:ext cx="54864" cy="44897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86968" y="19842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Disruption map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1832" y="2606040"/>
            <a:ext cx="3246120" cy="975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Affected step/year output (CLI + dashboard).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to sector definitions for repeatable runs.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 an early‑warning system.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755648"/>
            <a:ext cx="3703320" cy="4507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270248" y="1773936"/>
            <a:ext cx="54864" cy="4489704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53128" y="19842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frontier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07992" y="2606040"/>
            <a:ext cx="3246120" cy="975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evaluated across objectives.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3‑D scatter in dashboard: effectiveness × risk × complexity.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robust points, not “best” points.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755648"/>
            <a:ext cx="3703320" cy="4507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36408" y="1773936"/>
            <a:ext cx="54864" cy="4489704"/>
          </a:xfrm>
          <a:prstGeom prst="rect">
            <a:avLst/>
          </a:prstGeom>
          <a:solidFill>
            <a:srgbClr val="43F5A0"/>
          </a:solidFill>
          <a:ln w="12700">
            <a:solidFill>
              <a:srgbClr val="43F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019288" y="19842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trace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74152" y="2606040"/>
            <a:ext cx="3246120" cy="975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ledger persisted to a local DB path.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Health, status, and metrics endpoints for observability.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runs available by design.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sectors to runs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reproducible run is a compact contract: parameters → outputs → ledger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11201400" cy="46908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51560" y="1892808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51560" y="19476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0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09928" y="1874520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sectors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09928" y="2185416"/>
            <a:ext cx="6080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sectors JSON (sample file path is included in the repo).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2761488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51560" y="281635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0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09928" y="2743200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runtime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09928" y="3054096"/>
            <a:ext cx="6080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hosted models when configured; otherwise the demo falls back to the offline search loop.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3630168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368503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0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09928" y="3611880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episodes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09928" y="3922776"/>
            <a:ext cx="6080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wrapper: alpha-agi-insight-v1 --episodes N (or python -m ...).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1560" y="4498848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455371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0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09928" y="4480560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status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09928" y="4791456"/>
            <a:ext cx="6080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/status or agents-status to monitor heartbeats and restart counts.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51560" y="5367528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51560" y="542239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0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09928" y="5349240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decisions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09928" y="5660136"/>
            <a:ext cx="6080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final population scatter, affected steps/years, and persist the ledger.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18120" y="2011680"/>
            <a:ext cx="4069080" cy="78638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955280" y="22037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alpha-agi-insight-v1 --episodes 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Offline‑first by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Air‑gapped execution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Runs anywhere: local search loop + optional local inference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 no network access with one flag; package includes guidance for wheelhouse installs and cached assets.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571500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892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 offline execution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240280"/>
            <a:ext cx="525780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43000" y="244144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AGI_INSIGHT_OFFLINE=1 alpha-agi-insight-v1 --episodes 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154680"/>
            <a:ext cx="5303520" cy="922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OPENAI_API_KEY is empty, the demo uses offline mode automatically.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host cannot reach the internet, demos continue using cached data; optional downloads are skipped.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guidance includes wheelhouse builds and local model weights.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709928"/>
            <a:ext cx="525780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03720" y="18928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Air‑gapped operational profile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03720" y="2258568"/>
            <a:ext cx="4800600" cy="922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Prebuild a local wheel cache (wheels/) for installation.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Optional: set LLAMA_MODEL_PATH to a local .gguf weight for inference.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browser assets to enable offline web demo caching.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5669280"/>
            <a:ext cx="4754880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console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Real‑time monitoring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&amp; API: monitor, steer, and validate runs in real time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 documents a web workflow (uvicorn + React client + Docker Compose) and defines service health criteria.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690372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892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(as described)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240280"/>
            <a:ext cx="6446520" cy="71323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43000" y="23682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orchestrator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236829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REST: /healthz, /status, /metrics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3108960"/>
            <a:ext cx="6446520" cy="71323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43000" y="323697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client (React)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323697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ci → npm run dev/build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3977640"/>
            <a:ext cx="6446520" cy="71323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143000" y="41056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Compose/Helm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410565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UI at :8080; API at :8000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4846320"/>
            <a:ext cx="6446520" cy="71323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43000" y="4974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Streamlit/minimal UI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43400" y="49743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UI for headless servers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8120" y="1709928"/>
            <a:ext cx="406908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092440" y="1892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“Healthy when…”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2240280"/>
            <a:ext cx="3566160" cy="922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:8000/healthz returns 200 for orchestrator.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:8000/status exposes heartbeats and restart counts.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:8080 returns 200 for web container.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5230368"/>
            <a:ext cx="3566160" cy="9875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275320" y="5394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plot: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3‑D scatter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(effectiveness, risk, complexity)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laptop to cluster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paths: Compose, Helm, and edge runner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documents resource‑restricted agents and persistent storage for the audit ledger.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655064"/>
            <a:ext cx="1120140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60120" y="2011680"/>
            <a:ext cx="3429000" cy="4114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0120" y="2011680"/>
            <a:ext cx="3429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43000" y="21762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Compose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2011680"/>
            <a:ext cx="3429000" cy="4114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09160" y="2011680"/>
            <a:ext cx="342900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Helm (Kubernetes)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58200" y="2011680"/>
            <a:ext cx="3429000" cy="4114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458200" y="2011680"/>
            <a:ext cx="3429000" cy="73152"/>
          </a:xfrm>
          <a:prstGeom prst="rect">
            <a:avLst/>
          </a:prstGeom>
          <a:solidFill>
            <a:srgbClr val="43F5A0"/>
          </a:solidFill>
          <a:ln w="12700">
            <a:solidFill>
              <a:srgbClr val="43F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41080" y="21762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 runner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19</a:t>
            </a:r>
            <a:endParaRPr lang="en-US" sz="900" dirty="0"/>
          </a:p>
        </p:txBody>
      </p:sp>
      <p:sp>
        <p:nvSpPr>
          <p:cNvPr id="31" name="Rounded Rectangle 30"/>
          <p:cNvSpPr/>
          <p:nvPr/>
        </p:nvSpPr>
        <p:spPr>
          <a:xfrm>
            <a:off x="1161288" y="2880360"/>
            <a:ext cx="3026664" cy="2057400"/>
          </a:xfrm>
          <a:prstGeom prst="roundRect">
            <a:avLst/>
          </a:prstGeom>
          <a:solidFill>
            <a:srgbClr val="0A0E19"/>
          </a:solidFill>
          <a:ln w="15875"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128016" rtlCol="0" anchor="t">
            <a:noAutofit/>
          </a:bodyPr>
          <a:lstStyle/>
          <a:p>
            <a:pPr algn="l">
              <a:defRPr sz="1400">
                <a:solidFill>
                  <a:srgbClr val="EBF0FA"/>
                </a:solidFill>
                <a:latin typeface="Menlo"/>
              </a:defRPr>
            </a:pPr>
            <a:r>
              <a:rPr sz="1400">
                <a:solidFill>
                  <a:srgbClr val="E6EBF5"/>
                </a:solidFill>
                <a:latin typeface="Consolas"/>
              </a:rPr>
              <a:t>cp .env.sample .env</a:t>
            </a:r>
          </a:p>
          <a:p>
            <a:pPr algn="l"/>
            <a:r>
              <a:rPr sz="1400">
                <a:solidFill>
                  <a:srgbClr val="E6EBF5"/>
                </a:solidFill>
                <a:latin typeface="Consolas"/>
              </a:rPr>
              <a:t>docker compose up --build</a:t>
            </a:r>
          </a:p>
          <a:p>
            <a:pPr algn="l"/>
            <a:r>
              <a:rPr sz="1300">
                <a:solidFill>
                  <a:srgbClr val="AAB9CD"/>
                </a:solidFill>
                <a:latin typeface="Consolas"/>
              </a:rPr>
              <a:t># dashboard: http://localhost:8080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10328" y="2880360"/>
            <a:ext cx="3026664" cy="3246120"/>
          </a:xfrm>
          <a:prstGeom prst="roundRect">
            <a:avLst/>
          </a:prstGeom>
          <a:solidFill>
            <a:srgbClr val="0A0E19"/>
          </a:solidFill>
          <a:ln w="15875"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128016" rtlCol="0" anchor="t">
            <a:noAutofit/>
          </a:bodyPr>
          <a:lstStyle/>
          <a:p>
            <a:pPr algn="l">
              <a:defRPr sz="1200">
                <a:solidFill>
                  <a:srgbClr val="EBF0FA"/>
                </a:solidFill>
                <a:latin typeface="Menlo"/>
              </a:defRPr>
            </a:pPr>
            <a:r>
              <a:rPr sz="1400" dirty="0">
                <a:solidFill>
                  <a:srgbClr val="E6EBF5"/>
                </a:solidFill>
                <a:latin typeface="Consolas"/>
              </a:rPr>
              <a:t>helm upgrade --install alpha-demo \</a:t>
            </a:r>
          </a:p>
          <a:p>
            <a:pPr algn="l"/>
            <a:r>
              <a:rPr sz="1400" dirty="0">
                <a:solidFill>
                  <a:srgbClr val="E6EBF5"/>
                </a:solidFill>
                <a:latin typeface="Consolas"/>
              </a:rPr>
              <a:t>  ./infrastructure/helm-chart \</a:t>
            </a:r>
          </a:p>
          <a:p>
            <a:pPr algn="l"/>
            <a:r>
              <a:rPr sz="1400" dirty="0">
                <a:solidFill>
                  <a:srgbClr val="E6EBF5"/>
                </a:solidFill>
                <a:latin typeface="Consolas"/>
              </a:rPr>
              <a:t>  --values ./infrastructure/helm-chart/</a:t>
            </a:r>
            <a:r>
              <a:rPr sz="1400" dirty="0" err="1">
                <a:solidFill>
                  <a:srgbClr val="E6EBF5"/>
                </a:solidFill>
                <a:latin typeface="Consolas"/>
              </a:rPr>
              <a:t>values.yaml</a:t>
            </a:r>
            <a:r>
              <a:rPr sz="1400" dirty="0">
                <a:solidFill>
                  <a:srgbClr val="E6EBF5"/>
                </a:solidFill>
                <a:latin typeface="Consolas"/>
              </a:rPr>
              <a:t> \</a:t>
            </a:r>
          </a:p>
          <a:p>
            <a:pPr algn="l"/>
            <a:r>
              <a:rPr sz="1400" dirty="0">
                <a:solidFill>
                  <a:srgbClr val="E6EBF5"/>
                </a:solidFill>
                <a:latin typeface="Consolas"/>
              </a:rPr>
              <a:t>  --set </a:t>
            </a:r>
            <a:r>
              <a:rPr sz="1400" dirty="0" err="1">
                <a:solidFill>
                  <a:srgbClr val="E6EBF5"/>
                </a:solidFill>
                <a:latin typeface="Consolas"/>
              </a:rPr>
              <a:t>env.RUN_MODE</a:t>
            </a:r>
            <a:r>
              <a:rPr sz="1400" dirty="0">
                <a:solidFill>
                  <a:srgbClr val="E6EBF5"/>
                </a:solidFill>
                <a:latin typeface="Consolas"/>
              </a:rPr>
              <a:t>=web</a:t>
            </a:r>
          </a:p>
          <a:p>
            <a:pPr algn="l"/>
            <a:r>
              <a:rPr sz="1300" dirty="0">
                <a:solidFill>
                  <a:srgbClr val="AAB9CD"/>
                </a:solidFill>
                <a:latin typeface="Consolas"/>
              </a:rPr>
              <a:t># optional audit-ledger persistence:</a:t>
            </a:r>
          </a:p>
          <a:p>
            <a:pPr algn="l"/>
            <a:r>
              <a:rPr sz="1300" dirty="0">
                <a:solidFill>
                  <a:srgbClr val="AAB9CD"/>
                </a:solidFill>
                <a:latin typeface="Consolas"/>
              </a:rPr>
              <a:t>#   --set </a:t>
            </a:r>
            <a:r>
              <a:rPr sz="1300" dirty="0" err="1">
                <a:solidFill>
                  <a:srgbClr val="AAB9CD"/>
                </a:solidFill>
                <a:latin typeface="Consolas"/>
              </a:rPr>
              <a:t>persistence.enabled</a:t>
            </a:r>
            <a:r>
              <a:rPr sz="1300" dirty="0">
                <a:solidFill>
                  <a:srgbClr val="AAB9CD"/>
                </a:solidFill>
                <a:latin typeface="Consolas"/>
              </a:rPr>
              <a:t>=true \</a:t>
            </a:r>
          </a:p>
          <a:p>
            <a:pPr algn="l"/>
            <a:r>
              <a:rPr sz="1300" dirty="0">
                <a:solidFill>
                  <a:srgbClr val="AAB9CD"/>
                </a:solidFill>
                <a:latin typeface="Consolas"/>
              </a:rPr>
              <a:t>#   --set </a:t>
            </a:r>
            <a:r>
              <a:rPr sz="1300" dirty="0" err="1">
                <a:solidFill>
                  <a:srgbClr val="AAB9CD"/>
                </a:solidFill>
                <a:latin typeface="Consolas"/>
              </a:rPr>
              <a:t>persistence.size</a:t>
            </a:r>
            <a:r>
              <a:rPr sz="1300" dirty="0">
                <a:solidFill>
                  <a:srgbClr val="AAB9CD"/>
                </a:solidFill>
                <a:latin typeface="Consolas"/>
              </a:rPr>
              <a:t>=5Gi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59368" y="2880360"/>
            <a:ext cx="3026664" cy="2057400"/>
          </a:xfrm>
          <a:prstGeom prst="roundRect">
            <a:avLst/>
          </a:prstGeom>
          <a:solidFill>
            <a:srgbClr val="0A0E19"/>
          </a:solidFill>
          <a:ln w="15875"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128016" rtlCol="0" anchor="t">
            <a:noAutofit/>
          </a:bodyPr>
          <a:lstStyle/>
          <a:p>
            <a:pPr algn="l">
              <a:defRPr sz="1200">
                <a:solidFill>
                  <a:srgbClr val="EBF0FA"/>
                </a:solidFill>
                <a:latin typeface="Menlo"/>
              </a:defRPr>
            </a:pPr>
            <a:r>
              <a:rPr sz="1400">
                <a:solidFill>
                  <a:srgbClr val="E6EBF5"/>
                </a:solidFill>
                <a:latin typeface="Consolas"/>
              </a:rPr>
              <a:t>python edge_runner.py \</a:t>
            </a:r>
          </a:p>
          <a:p>
            <a:pPr algn="l"/>
            <a:r>
              <a:rPr sz="1400">
                <a:solidFill>
                  <a:srgbClr val="E6EBF5"/>
                </a:solidFill>
                <a:latin typeface="Consolas"/>
              </a:rPr>
              <a:t>  --agents manufacturing,energy \</a:t>
            </a:r>
          </a:p>
          <a:p>
            <a:pPr algn="l"/>
            <a:r>
              <a:rPr sz="1400">
                <a:solidFill>
                  <a:srgbClr val="E6EBF5"/>
                </a:solidFill>
                <a:latin typeface="Consolas"/>
              </a:rPr>
              <a:t>  --cycle 60 --loglevel info</a:t>
            </a:r>
          </a:p>
          <a:p>
            <a:pPr algn="l"/>
            <a:r>
              <a:rPr sz="1300">
                <a:solidFill>
                  <a:srgbClr val="AAB9CD"/>
                </a:solidFill>
                <a:latin typeface="Consolas"/>
              </a:rPr>
              <a:t># forwards to: alpha_factory_v1.edge_runner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&amp; security posture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Production‑minded constraints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 power: isolate execution, require tokens, encrypt transport, log everything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1201400" cy="45994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60120" y="2011680"/>
            <a:ext cx="3291840" cy="1874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78408" y="2029968"/>
            <a:ext cx="54864" cy="1837944"/>
          </a:xfrm>
          <a:prstGeom prst="rect">
            <a:avLst/>
          </a:prstGeom>
          <a:solidFill>
            <a:srgbClr val="43F5A0"/>
          </a:solidFill>
          <a:ln w="12700">
            <a:solidFill>
              <a:srgbClr val="43F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61288" y="221284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 bounds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1288" y="2578608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and memory limits for sandboxed code paths.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2011680"/>
            <a:ext cx="3291840" cy="1874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178808" y="2029968"/>
            <a:ext cx="54864" cy="1837944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361688" y="221284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tokens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61688" y="2578608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 requires API_TOKEN; fail fast when unchanged.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920" y="2011680"/>
            <a:ext cx="3291840" cy="1874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79208" y="2029968"/>
            <a:ext cx="54864" cy="183794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62088" y="221284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bus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62088" y="2578608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gRPC bus can use cert/key/token; TLS can be enforced.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" y="4251960"/>
            <a:ext cx="3291840" cy="1874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78408" y="4270248"/>
            <a:ext cx="54864" cy="18379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161288" y="44531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isolation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61288" y="4818888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can run without outbound network access (Compose hardening).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4251960"/>
            <a:ext cx="3291840" cy="1874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178808" y="4270248"/>
            <a:ext cx="54864" cy="1837944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361688" y="44531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61688" y="4818888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at /metrics; traces and dashboards described in repo.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60920" y="4251960"/>
            <a:ext cx="3291840" cy="1874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379208" y="4270248"/>
            <a:ext cx="54864" cy="183794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562088" y="44531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hooks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62088" y="4818888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documents governance &amp; compliance primitives and policy runbook.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interpretation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theory as a decision lens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theory lens: when the payoff matrix changes, equilibria move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demo outputs to identify when incumbency advantages invert and which strategic moves remain dominant under uncertainty.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557784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89280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patterns to 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5074920" cy="11823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 timing: pre‑position capabilities before thresholds are crossed.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Cooperation vs competition: where coordination becomes a dominant response.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asymmetry: who sees the regime shift first, and how fast do others adapt?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value: choose frontiers that preserve maneuverability under shock.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709928"/>
            <a:ext cx="544068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720840" y="18928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hook to the 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2240280"/>
            <a:ext cx="4892040" cy="975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3‑D scatter to select strategies that dominate along a constraint (e.g., low risk at fixed effectiveness).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affected steps/years as the “move horizon” for investment and policy sequencing.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ledger + parameters to run adversarial “what‑if” counterfactuals.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lens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Hamiltonians &amp; constraints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Hamiltonian lens: optimize value under invariants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demo’s multi‑objective population can be treated as an energy landscape: local maxima, global frontiers, and constraint‑induced trajectories.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571500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89280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mapping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H(x) = −V(x) + λ₁·Risk(x) + λ₂·Complexity(x)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971800"/>
            <a:ext cx="5257800" cy="11823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x: a strategy or innovation candidate.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V: value / effectiveness; penalties encode constraints.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Vary λ to sweep policies: “risk‑tight” vs “speed‑first”.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frontier is the set of non‑dominated solutions across λ.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709928"/>
            <a:ext cx="5257800" cy="4553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03720" y="18928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2240280"/>
            <a:ext cx="4754880" cy="975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turns debates (“should we move fast?”) into parameterized trade‑offs.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makes governance measurable: choose λ values, then test stability.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supports portfolio thinking: allocate across multiple frontier points.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_AGI-M0SS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3566160" cy="35661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Autopoiesis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Self‑maintaining design loops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Meta‑agentic systems behave like living organizations: they generate, select, and reconfigure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defines “Meta‑Agentic” as second‑order agency over a population of agents and interaction rules.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11201400" cy="4507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05840" y="2240280"/>
            <a:ext cx="196596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2240280"/>
            <a:ext cx="196596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70432" y="2441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807208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environment + parameters + cached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9504" y="3300984"/>
            <a:ext cx="320040" cy="256032"/>
          </a:xfrm>
          <a:prstGeom prst="rightArrow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154680" y="2240280"/>
            <a:ext cx="196596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154680" y="2240280"/>
            <a:ext cx="196596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319272" y="2441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9272" y="2807208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candidates + plans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38344" y="3300984"/>
            <a:ext cx="320040" cy="256032"/>
          </a:xfrm>
          <a:prstGeom prst="rightArrow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303520" y="2240280"/>
            <a:ext cx="196596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303520" y="2240280"/>
            <a:ext cx="196596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68112" y="2441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68112" y="2807208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the frontier under constraints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87184" y="3300984"/>
            <a:ext cx="320040" cy="256032"/>
          </a:xfrm>
          <a:prstGeom prst="rightArrow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452360" y="2240280"/>
            <a:ext cx="196596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452360" y="2240280"/>
            <a:ext cx="1965960" cy="7315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616952" y="2441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16952" y="2807208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ledger + deployable artifacts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36024" y="3300984"/>
            <a:ext cx="320040" cy="256032"/>
          </a:xfrm>
          <a:prstGeom prst="rightArrow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601200" y="2240280"/>
            <a:ext cx="196596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601200" y="2240280"/>
            <a:ext cx="196596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765792" y="2441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65792" y="2807208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Re‑run counterfactuals; update policy weights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7552" y="4983480"/>
            <a:ext cx="411480" cy="292608"/>
          </a:xfrm>
          <a:prstGeom prst="leftArrow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463040" y="4828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repeats — with new constraints, new objectives, and new external signals.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value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Compounding advantage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matters: compounding advantage accrues to superior foresight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foresight engine shifts decision latency from months to minutes — and makes counterfactual testing routine.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11201400" cy="4507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10652760" cy="676656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43000" y="229514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allocation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86200" y="2295144"/>
            <a:ext cx="7543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 before thresholds; exit brittle positions before shocks.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971800"/>
            <a:ext cx="10652760" cy="676656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43000" y="31181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policy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3118104"/>
            <a:ext cx="7543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training, safety, and standards against the move horizon.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3794760"/>
            <a:ext cx="10652760" cy="676656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43000" y="394106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strategy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86200" y="3941064"/>
            <a:ext cx="7543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frontier points aligned to risk appetite and time‑to‑ship.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4617720"/>
            <a:ext cx="10652760" cy="676656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43000" y="476402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posture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86200" y="4764024"/>
            <a:ext cx="7543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air‑gapped, token‑gated, observable deployments as baseline.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5440680"/>
            <a:ext cx="10652760" cy="676656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143000" y="558698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&amp; energy regimes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86200" y="5586984"/>
            <a:ext cx="7543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high‑leverage discovery loops; treat compute/energy as a civilizational resource.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16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 &amp; limits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91600" y="3383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outputs responsibly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12191695" cy="18288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a demo forecasting engine — treat outputs as structured hypotheses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15453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Rigor comes from repeatability: parameter sweeps, adversarial counterfactuals, and audited runs — not from a single run.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5577840" cy="4507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5074920" cy="11823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ensembles: vary curve, energy/entropy, mutation/crossover rates.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offline mode for reproducible air‑gapped runs.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and compare results via the audit ledger path.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3‑D scatter as a negotiation space between stakeholders.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755648"/>
            <a:ext cx="5440680" cy="4507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2440"/>
            </a:solidFill>
            <a:prstDash val="solid"/>
          </a:ln>
          <a:effectLst>
            <a:outerShdw blurRad="635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720840" y="19385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 modes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2304288"/>
            <a:ext cx="4892040" cy="11823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Overconfidence in a single trajectory (ignore uncertainty).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Optimizing for one metric while silently increasing another (risk/complexity).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Skipping governance: running without tokens/TLS in sensitive contexts.</a:t>
            </a:r>
            <a:endParaRPr lang="en-US" sz="1300" dirty="0"/>
          </a:p>
          <a:p>
            <a:pPr marL="165100" indent="-165100">
              <a:spcAft>
                <a:spcPts val="65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demo as “truth” rather than a disciplined generator of hypotheses.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6309360"/>
            <a:ext cx="830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— Beyond Human Foresight (Demo)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28760" y="6309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unsplash_futuristic_city_data_center.jpg"/>
          <p:cNvPicPr>
            <a:picLocks noChangeAspect="1"/>
          </p:cNvPicPr>
          <p:nvPr/>
        </p:nvPicPr>
        <p:blipFill>
          <a:blip r:embed="rId3"/>
          <a:srcRect l="3335" r="333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>
              <a:alpha val="45000"/>
            </a:srgbClr>
          </a:solidFill>
          <a:ln w="12700">
            <a:solidFill>
              <a:srgbClr val="070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822960" y="1965960"/>
            <a:ext cx="10561320" cy="2834640"/>
          </a:xfrm>
          <a:prstGeom prst="round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1A2440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1143000" y="22402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Foresight becomes a system.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188720" y="2971800"/>
            <a:ext cx="9921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• Observe • Constrain • Audit • Decide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88720" y="3429000"/>
            <a:ext cx="9921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7B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α‑AGI Insight v1 (Demo) operationalizes the transition from speculation to repeatable strategic simulation.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4343400"/>
            <a:ext cx="9921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3199</Words>
  <Application>Microsoft Macintosh PowerPoint</Application>
  <PresentationFormat>Widescreen</PresentationFormat>
  <Paragraphs>336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Boucher</cp:lastModifiedBy>
  <cp:revision>2</cp:revision>
  <dcterms:created xsi:type="dcterms:W3CDTF">2026-01-08T04:45:51Z</dcterms:created>
  <dcterms:modified xsi:type="dcterms:W3CDTF">2026-01-08T20:10:13Z</dcterms:modified>
</cp:coreProperties>
</file>