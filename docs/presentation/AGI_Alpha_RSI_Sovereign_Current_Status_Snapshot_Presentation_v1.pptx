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5"/>
    <p:restoredTop sz="94610"/>
  </p:normalViewPr>
  <p:slideViewPr>
    <p:cSldViewPr snapToGrid="0" snapToObjects="1">
      <p:cViewPr varScale="1">
        <p:scale>
          <a:sx n="191" d="100"/>
          <a:sy n="191" d="100"/>
        </p:scale>
        <p:origin x="104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0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phoenix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388620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6888175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α‑AGI ASCENSION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359152"/>
            <a:ext cx="688817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Executive Brief — Status, Proof Points, Roadmap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788920"/>
            <a:ext cx="38404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2999232"/>
            <a:ext cx="6888175" cy="64008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validator‑gated, evidence‑first constellation for discovering and executing real α across sectors.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14055" y="1691640"/>
            <a:ext cx="2971800" cy="11430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14055" y="1691640"/>
            <a:ext cx="91440" cy="1143000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42655" y="1874520"/>
            <a:ext cx="2606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Difficulty‑weighted completion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42655" y="2157984"/>
            <a:ext cx="26060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80–85%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42655" y="2604564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from all artifacts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14055" y="2926080"/>
            <a:ext cx="2971800" cy="11430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14055" y="2926080"/>
            <a:ext cx="91440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42655" y="3108960"/>
            <a:ext cx="2606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layer 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42655" y="3392424"/>
            <a:ext cx="26060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42655" y="3839004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α‑AGI Insight (governed)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14055" y="4160520"/>
            <a:ext cx="2971800" cy="11430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214055" y="4160520"/>
            <a:ext cx="91440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42655" y="4343400"/>
            <a:ext cx="2606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42655" y="4626864"/>
            <a:ext cx="26060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+ COUNCIL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42655" y="5073444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automation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2026 — FINAL v5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Thesis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 for sovereign capability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1018001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operationalize a single principle: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1018001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REAL α → VALIDATE WITHOUT SELF‑DELUSION → EXECUTE AT SCALE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05840" y="2834640"/>
            <a:ext cx="3164738" cy="28803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3164738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2616098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α‑AGI Insight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74720"/>
            <a:ext cx="2616098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Beyond‑human foresight under governance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80160" y="39776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36192" y="3959352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Open‑ended QD search (MAP‑Elites)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27024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36192" y="4251960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novelty distance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456285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36192" y="4544568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Evidence‑gated promotion (ECI)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85546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36192" y="4837176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Move‑37 / rupture detection protocol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9178" y="2834640"/>
            <a:ext cx="3164738" cy="28803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399178" y="2834640"/>
            <a:ext cx="316473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673498" y="3063240"/>
            <a:ext cx="2616098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Work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73498" y="3474720"/>
            <a:ext cx="2616098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→ agents → validators → settlement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73498" y="39776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29530" y="3959352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job escrow &amp; payout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73498" y="427024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9530" y="4251960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Role‑gated validation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73498" y="456285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29530" y="4544568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+ audit trail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73498" y="485546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9530" y="4837176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runbooks (Green Path)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92517" y="2834640"/>
            <a:ext cx="3164738" cy="28803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792517" y="2834640"/>
            <a:ext cx="316473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066837" y="3063240"/>
            <a:ext cx="2616098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Execution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66837" y="3474720"/>
            <a:ext cx="2616098" cy="4572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coordinate durable autonomy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6837" y="39776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22869" y="3959352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substrate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66837" y="427024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22869" y="4251960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operators + safety controls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66837" y="456285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22869" y="4544568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&amp; federation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66837" y="485546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2869" y="4837176"/>
            <a:ext cx="236006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posture (multi‑network)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closed, compounding loop: insight → work → execution → evidence → archive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2148840"/>
            <a:ext cx="1853123" cy="960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2148840"/>
            <a:ext cx="1853123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70432" y="2258568"/>
            <a:ext cx="1523939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70432" y="2487168"/>
            <a:ext cx="1628373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exploration targeting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 to explore next)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2913827" y="2514600"/>
            <a:ext cx="146304" cy="201168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87563" y="2148840"/>
            <a:ext cx="1853123" cy="960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87563" y="2148840"/>
            <a:ext cx="1853123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252155" y="2258568"/>
            <a:ext cx="1523939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2155" y="2487168"/>
            <a:ext cx="1523939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(cells + bridges)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995550" y="2514600"/>
            <a:ext cx="146304" cy="201168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169286" y="2148840"/>
            <a:ext cx="1853123" cy="960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169286" y="2148840"/>
            <a:ext cx="1853123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33878" y="2258568"/>
            <a:ext cx="1523939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3878" y="2487168"/>
            <a:ext cx="1523939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boringness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 routing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077273" y="2514600"/>
            <a:ext cx="146304" cy="201168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251009" y="2148840"/>
            <a:ext cx="1853123" cy="960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251009" y="2148840"/>
            <a:ext cx="1853123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415601" y="2258568"/>
            <a:ext cx="1523939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TEST/EVAL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15601" y="2487168"/>
            <a:ext cx="1523939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compare +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evidence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5400000">
            <a:off x="9158996" y="2514600"/>
            <a:ext cx="146304" cy="201168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332732" y="2148840"/>
            <a:ext cx="1853123" cy="9601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332732" y="2148840"/>
            <a:ext cx="1853123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97324" y="2258568"/>
            <a:ext cx="1523939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97324" y="2487168"/>
            <a:ext cx="1523939" cy="5486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stones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state persistence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" y="3429000"/>
            <a:ext cx="1018001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Sovereign‑grade properties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38404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99032" y="3822192"/>
            <a:ext cx="9649663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novelty distance + baseline comparisons: no narrative-only wins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3000" y="42062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99032" y="4187952"/>
            <a:ext cx="9649663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Contact Index (ECI): caps simulated confidence; rewards executed proof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3000" y="457200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99032" y="4553712"/>
            <a:ext cx="9649663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Advantage Persistence for high novelty: shocks + replays before escalation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43000" y="493776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99032" y="4919472"/>
            <a:ext cx="9649663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audit bundles (dossier) for decision-makers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α‑AGI Insight (Hardest Layer)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Beyond‑human foresight, governed and falsifiable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530352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99032" y="2130552"/>
            <a:ext cx="52303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non‑obvious rupture points via open‑ended search (QD / bridges)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53288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99032" y="2514600"/>
            <a:ext cx="52303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concrete “opportunity cards” with causal chains and fast falsification tests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91693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99032" y="2898648"/>
            <a:ext cx="52303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novelty as skepticism: probe first, then believe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0098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99032" y="3282696"/>
            <a:ext cx="52303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Move‑37 protocol when novelty + advantage + evidence thresholds are met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30975" y="1783080"/>
            <a:ext cx="5257800" cy="4343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59575" y="1965960"/>
            <a:ext cx="48006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primitives (why it’s hard)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59575" y="237744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15607" y="2359152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novelty distance (archive‑comparative)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59575" y="270662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15607" y="2688336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Baseline‑comparative advantage deltas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9575" y="303580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15607" y="3017520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ADVANTAGE_PERSISTENCE across shocks &amp; replays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59575" y="336499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15607" y="3346704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ledger (ECI) to prevent “fake RSI”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59575" y="369417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15607" y="3675888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bundles with seeds + manifests for reproducibility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59575" y="5440680"/>
            <a:ext cx="4800600" cy="329184"/>
          </a:xfrm>
          <a:prstGeom prst="roundRect">
            <a:avLst/>
          </a:prstGeom>
          <a:solidFill>
            <a:srgbClr val="D6B15E">
              <a:alpha val="90000"/>
            </a:srgbClr>
          </a:solidFill>
          <a:ln w="12700">
            <a:solidFill>
              <a:srgbClr val="D6B15E">
                <a:alpha val="6500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824167" y="5495544"/>
            <a:ext cx="4469909" cy="219456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foresight that survives hostile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Points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primitives already deployed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5577840" cy="37947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5425440" cy="37947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34440" y="1965960"/>
            <a:ext cx="5120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substrate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627632" y="2313432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AGIJobManager (Ethereum): 0x0178B6ba…A477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266090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27632" y="2642616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$AGIALPHA token (Eth v2): 0xA61a3B3a…a1fA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299008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627632" y="2971800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EqualMinterVault: 0x27d6fE86…80D8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71600" y="33192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27632" y="3300984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indexed as on‑chain objects (market surface)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95160" y="1965960"/>
            <a:ext cx="4937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role gating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88352" y="2313432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Validators: *.alpha.club.agi.eth | *.club.agi.eth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64261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88352" y="2624328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*.alpha.agent.agi.eth | *.agent.agi.eth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5351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88352" y="2935224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*.alpha.node.agi.eth | *.node.agi.eth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26440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88352" y="3246120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Sovereigns: *.alpha.agi.eth | *.agi.eth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57530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88352" y="3557016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Role‑gated validation + settlement (escrow → payout)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05840" y="5650992"/>
            <a:ext cx="10180015" cy="502920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234440" y="5751576"/>
            <a:ext cx="972281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primitives reduce execution risk: identity is legible, settlement is enforceable, and audit trails are native.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Jobs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work for autonomous agents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1875069" cy="86868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1965960"/>
            <a:ext cx="1875069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170432" y="2130552"/>
            <a:ext cx="1545885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2423160"/>
            <a:ext cx="154588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Escrowed reward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 rot="5400000">
            <a:off x="2926629" y="2295144"/>
            <a:ext cx="128016" cy="182880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82077" y="1965960"/>
            <a:ext cx="1875069" cy="86868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082077" y="1965960"/>
            <a:ext cx="1875069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246669" y="2130552"/>
            <a:ext cx="1545885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claims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669" y="2423160"/>
            <a:ext cx="154588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/ commits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rot="5400000">
            <a:off x="5002865" y="2295144"/>
            <a:ext cx="128016" cy="182880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158313" y="1965960"/>
            <a:ext cx="1875069" cy="86868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158313" y="1965960"/>
            <a:ext cx="1875069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322905" y="2130552"/>
            <a:ext cx="1545885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2905" y="2423160"/>
            <a:ext cx="154588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runbooks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5400000">
            <a:off x="7079102" y="2295144"/>
            <a:ext cx="128016" cy="182880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234550" y="1965960"/>
            <a:ext cx="1875069" cy="86868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234550" y="1965960"/>
            <a:ext cx="1875069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399142" y="2130552"/>
            <a:ext cx="1545885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99142" y="2423160"/>
            <a:ext cx="154588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Role‑gated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rot="5400000">
            <a:off x="9155339" y="2295144"/>
            <a:ext cx="128016" cy="182880"/>
          </a:xfrm>
          <a:prstGeom prst="triangle">
            <a:avLst/>
          </a:prstGeom>
          <a:solidFill>
            <a:srgbClr val="2A3556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310787" y="1965960"/>
            <a:ext cx="1875069" cy="86868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9310787" y="1965960"/>
            <a:ext cx="1875069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475379" y="2130552"/>
            <a:ext cx="1545885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75379" y="2423160"/>
            <a:ext cx="154588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On‑chain payout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3063240"/>
            <a:ext cx="56692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model (at a glance)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" y="342900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1399032" y="3410712"/>
            <a:ext cx="107167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is on‑chain: escrow + payout enforced by contracts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1143000" y="379476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1399032" y="3776472"/>
            <a:ext cx="107167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role‑gated: validator identities are legible via ENS namespaces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1143000" y="41605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1399032" y="4142232"/>
            <a:ext cx="107167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safety controls: pause/rollback to reduce blast radius during early phases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1143000" y="45262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80" dirty="0"/>
          </a:p>
        </p:txBody>
      </p:sp>
      <p:sp>
        <p:nvSpPr>
          <p:cNvPr id="42" name="Text 40"/>
          <p:cNvSpPr/>
          <p:nvPr/>
        </p:nvSpPr>
        <p:spPr>
          <a:xfrm>
            <a:off x="1399032" y="4507992"/>
            <a:ext cx="107167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is native: artifacts + manifests retained for review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+ Nodes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Sovereign‑grade execution substrate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5577840" cy="4343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5120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AGI‑Alpha‑Agent v0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27632" y="2313432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Meta‑agent orchestration (second‑order agency)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71600" y="266090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27632" y="2642616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specialists; merges outputs; resolves conflicts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299008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27632" y="2971800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policies + self‑checks; evidence discipline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33192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627632" y="3300984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deterministic, auditable runs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1783080"/>
            <a:ext cx="5425440" cy="4343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95160" y="1965960"/>
            <a:ext cx="4937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AGI‑Alpha‑Node v0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388352" y="2313432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Operator‑run coordination plane for jobs &amp; agents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132320" y="266090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388352" y="2642616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→ routes → validates → settles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132320" y="2990088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388352" y="2971800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controls: pause/resume/reset/rollback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132320" y="33192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388352" y="3300984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federation &amp; multi‑network scaling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1234440" y="5486400"/>
            <a:ext cx="5120640" cy="329184"/>
          </a:xfrm>
          <a:prstGeom prst="roundRect">
            <a:avLst/>
          </a:prstGeom>
          <a:solidFill>
            <a:srgbClr val="D6B15E">
              <a:alpha val="90000"/>
            </a:srgbClr>
          </a:solidFill>
          <a:ln w="12700">
            <a:solidFill>
              <a:srgbClr val="D6B15E">
                <a:alpha val="6500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399032" y="5541264"/>
            <a:ext cx="4816417" cy="219456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durable autonomy with bounded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56293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Status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56293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Difficulty‑weighted progress (not feature‑count)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05840" y="1874520"/>
            <a:ext cx="18288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41148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80–85%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005840" y="2697480"/>
            <a:ext cx="10652760" cy="237744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05840" y="2697480"/>
            <a:ext cx="8788527" cy="237744"/>
          </a:xfrm>
          <a:prstGeom prst="round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2971800"/>
            <a:ext cx="51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32220" y="2971800"/>
            <a:ext cx="53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246120"/>
            <a:ext cx="51263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(difficulty‑weighted)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611880"/>
            <a:ext cx="51263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α‑AGI Insight (foresight + validation)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223760" y="3630168"/>
            <a:ext cx="4434840" cy="237744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223760" y="3630168"/>
            <a:ext cx="4080053" cy="237744"/>
          </a:xfrm>
          <a:prstGeom prst="round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223760" y="3904488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441180" y="3904488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849624"/>
            <a:ext cx="51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layer — largely implemented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4178808"/>
            <a:ext cx="51263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execution core (agents + jobs + nodes)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223760" y="4197096"/>
            <a:ext cx="4434840" cy="237744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223760" y="4197096"/>
            <a:ext cx="2749601" cy="237744"/>
          </a:xfrm>
          <a:prstGeom prst="round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223760" y="4471416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41180" y="4471416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4416552"/>
            <a:ext cx="51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substrate in place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4745736"/>
            <a:ext cx="51263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/ capitalization completion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223760" y="4764024"/>
            <a:ext cx="4434840" cy="237744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223760" y="4764024"/>
            <a:ext cx="1552194" cy="237744"/>
          </a:xfrm>
          <a:prstGeom prst="round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223760" y="5038344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441180" y="5038344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4983480"/>
            <a:ext cx="51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exist; market/oracle economics remain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" y="5312664"/>
            <a:ext cx="51263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automation + scale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7223760" y="5330952"/>
            <a:ext cx="4434840" cy="237744"/>
          </a:xfrm>
          <a:prstGeom prst="roundRect">
            <a:avLst/>
          </a:prstGeom>
          <a:solidFill>
            <a:srgbClr val="18244A"/>
          </a:solidFill>
          <a:ln w="12700">
            <a:solidFill>
              <a:srgbClr val="18244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223760" y="5330952"/>
            <a:ext cx="1108710" cy="237744"/>
          </a:xfrm>
          <a:prstGeom prst="round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7223760" y="5605272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41180" y="5605272"/>
            <a:ext cx="22174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05840" y="5550408"/>
            <a:ext cx="512638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Council, reinvestment automation, audits, UX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355080"/>
            <a:ext cx="56293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(≈15–20%)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work is modular — but must be done rigorously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4929988" cy="19659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1874520"/>
            <a:ext cx="4929988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80160" y="2057400"/>
            <a:ext cx="43813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market mechanics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536192" y="2450592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Bonding curves / AMM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280160" y="277977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536192" y="2761488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oracle scoring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280160" y="30906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1536192" y="3072384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incentives &amp; anti‑sybil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55868" y="1874520"/>
            <a:ext cx="4929988" cy="19659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255868" y="1874520"/>
            <a:ext cx="492998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0188" y="2057400"/>
            <a:ext cx="43813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governance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0188" y="24688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6786220" y="2450592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&amp; parameter control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530188" y="277977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786220" y="2761488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escalation rules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6530188" y="30906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6786220" y="3072384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Timelocks + emergency powers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1005840" y="4160520"/>
            <a:ext cx="4929988" cy="19659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05840" y="4160520"/>
            <a:ext cx="492998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280160" y="4343400"/>
            <a:ext cx="43813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(value reservoir)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548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1536192" y="4736592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Reinvestment policies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280160" y="506577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1536192" y="5047488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capital deployment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1280160" y="53766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1536192" y="5358384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Audit‑friendly accounting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255868" y="4160520"/>
            <a:ext cx="4929988" cy="196596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6255868" y="4160520"/>
            <a:ext cx="4929988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530188" y="4343400"/>
            <a:ext cx="43813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&amp; scale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530188" y="47548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6786220" y="4736592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</a:t>
            </a:r>
            <a:endParaRPr lang="en-US" sz="1220" dirty="0"/>
          </a:p>
        </p:txBody>
      </p:sp>
      <p:sp>
        <p:nvSpPr>
          <p:cNvPr id="42" name="Text 40"/>
          <p:cNvSpPr/>
          <p:nvPr/>
        </p:nvSpPr>
        <p:spPr>
          <a:xfrm>
            <a:off x="6530188" y="506577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6786220" y="5047488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Monitoring/observability</a:t>
            </a:r>
            <a:endParaRPr lang="en-US" sz="1220" dirty="0"/>
          </a:p>
        </p:txBody>
      </p:sp>
      <p:sp>
        <p:nvSpPr>
          <p:cNvPr id="44" name="Text 42"/>
          <p:cNvSpPr/>
          <p:nvPr/>
        </p:nvSpPr>
        <p:spPr>
          <a:xfrm>
            <a:off x="6530188" y="537667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45" name="Text 43"/>
          <p:cNvSpPr/>
          <p:nvPr/>
        </p:nvSpPr>
        <p:spPr>
          <a:xfrm>
            <a:off x="6786220" y="5358384"/>
            <a:ext cx="412531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+ multi‑network throughput</a:t>
            </a:r>
            <a:endParaRPr lang="en-US" sz="1220" dirty="0"/>
          </a:p>
        </p:txBody>
      </p:sp>
      <p:sp>
        <p:nvSpPr>
          <p:cNvPr id="46" name="Text 44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foundation into sovereign‑grade deployment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3271418" cy="41605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1874520"/>
            <a:ext cx="3271418" cy="64008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34440" y="2057400"/>
            <a:ext cx="281421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0472" y="240487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“Green Path” pilots; publish reproducible run bundles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0472" y="277063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Hard‑gate evidence discipline (ECI), baseline comparisons, persistence checks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0472" y="313639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playbooks + incident drills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60138" y="1874520"/>
            <a:ext cx="3271418" cy="41605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460138" y="1874520"/>
            <a:ext cx="3271418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88738" y="2057400"/>
            <a:ext cx="281421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8738" y="242316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44770" y="240487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(contracts + node ops) and monitoring baseline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88738" y="27889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44770" y="277063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validators + agent roster under ENS role gating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88738" y="31546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44770" y="313639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production‑ready UI for job posting + validation workflow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14437" y="1874520"/>
            <a:ext cx="3271418" cy="416052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914437" y="1874520"/>
            <a:ext cx="327141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43037" y="2057400"/>
            <a:ext cx="281421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43037" y="242316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99069" y="240487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constrained mainnet deployment (limited scope)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43037" y="27889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399069" y="277063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MARK v1 (bounded) and begin oracle economics testing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43037" y="315468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99069" y="3136392"/>
            <a:ext cx="255818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Council design package (timelock, emergency controls)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18585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 Posture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978408"/>
            <a:ext cx="11185855" cy="32004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prevent self‑delusion and contain blast radius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5855" cy="0"/>
          </a:xfrm>
          <a:prstGeom prst="line">
            <a:avLst/>
          </a:prstGeom>
          <a:noFill/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02920" y="1353312"/>
            <a:ext cx="1097280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185855" cy="461772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005840" y="1783080"/>
            <a:ext cx="5577840" cy="4343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766560" y="1783080"/>
            <a:ext cx="5425440" cy="43434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234440" y="1965960"/>
            <a:ext cx="51206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safeguards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627632" y="2313432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Baseline‑comparative evaluation (no isolated scoring)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1371600" y="267919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1627632" y="2660904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caps simulated evidence; rewards executed tests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371600" y="302666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627632" y="3008376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Advantage Persistence for high novelty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1371600" y="337413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6B1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1627632" y="3355848"/>
            <a:ext cx="481888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4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manifests + audit bundles for every escalation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6995160" y="1965960"/>
            <a:ext cx="49377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safeguards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2331720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7388352" y="2313432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controls: pause/resume/reset/rollback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132320" y="2679192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388352" y="2660904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Role‑gated validation via ENS namespaces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132320" y="3026664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388352" y="3008376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deployments before full decentralization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132320" y="3374136"/>
            <a:ext cx="228600" cy="256032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7388352" y="3355848"/>
            <a:ext cx="45445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audits before market mechanism expansion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1234440" y="5486400"/>
            <a:ext cx="5120640" cy="329184"/>
          </a:xfrm>
          <a:prstGeom prst="roundRect">
            <a:avLst/>
          </a:prstGeom>
          <a:solidFill>
            <a:srgbClr val="D6B15E">
              <a:alpha val="90000"/>
            </a:srgbClr>
          </a:solidFill>
          <a:ln w="12700">
            <a:solidFill>
              <a:srgbClr val="D6B15E">
                <a:alpha val="6500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399032" y="5541264"/>
            <a:ext cx="48040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believe only what survives stress + reproduction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key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0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1A33">
              <a:alpha val="65000"/>
            </a:srgbClr>
          </a:solidFill>
          <a:ln w="12700">
            <a:solidFill>
              <a:srgbClr val="101A33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D">
              <a:alpha val="80000"/>
            </a:srgbClr>
          </a:solidFill>
          <a:ln w="12700">
            <a:solidFill>
              <a:srgbClr val="0A0F1D">
                <a:alpha val="0"/>
              </a:srgbClr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5855" cy="4251960"/>
          </a:xfrm>
          <a:prstGeom prst="roundRect">
            <a:avLst/>
          </a:prstGeom>
          <a:solidFill>
            <a:srgbClr val="101A33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999713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built the sovereign‑grade foundation.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9997135" cy="11887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layer (α‑AGI Insight) is implemented.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substrate (Agents + Jobs + Nodes) is in place.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work is market economics, governance, and scale hardening.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703320"/>
            <a:ext cx="9997135" cy="54864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97280" y="3913632"/>
            <a:ext cx="9997135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operationalize constrained mainnet pilots → harden MARK v1 → introduce Council governance.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14055" y="4754880"/>
            <a:ext cx="2971800" cy="1143000"/>
          </a:xfrm>
          <a:prstGeom prst="roundRect">
            <a:avLst/>
          </a:prstGeom>
          <a:solidFill>
            <a:srgbClr val="0E1730"/>
          </a:solidFill>
          <a:ln w="12700">
            <a:solidFill>
              <a:srgbClr val="2A3556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14055" y="4754880"/>
            <a:ext cx="91440" cy="1143000"/>
          </a:xfrm>
          <a:prstGeom prst="rect">
            <a:avLst/>
          </a:prstGeom>
          <a:solidFill>
            <a:srgbClr val="D6B15E"/>
          </a:solidFill>
          <a:ln w="12700">
            <a:solidFill>
              <a:srgbClr val="D6B15E"/>
            </a:solidFill>
            <a:prstDash val="solid"/>
          </a:ln>
        </p:spPr>
        <p:txBody>
          <a:bodyPr wrap="square" lIns="109728" tIns="54864" rIns="109728" bIns="54864"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442655" y="4937760"/>
            <a:ext cx="260604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42655" y="5221224"/>
            <a:ext cx="260604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80–85%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42655" y="5667804"/>
            <a:ext cx="265176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Difficulty‑weighted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355080"/>
            <a:ext cx="65836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Alpha RSI — Sovereign Executive Brief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45575" y="6355080"/>
            <a:ext cx="27432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109728" tIns="54864" rIns="109728" bIns="54864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FINAL v5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1355</Words>
  <Application>Microsoft Macintosh PowerPoint</Application>
  <PresentationFormat>Widescreen</PresentationFormat>
  <Paragraphs>297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Vincent Boucher</cp:lastModifiedBy>
  <cp:revision>3</cp:revision>
  <dcterms:created xsi:type="dcterms:W3CDTF">2026-01-23T19:06:34Z</dcterms:created>
  <dcterms:modified xsi:type="dcterms:W3CDTF">2026-01-24T03:58:58Z</dcterms:modified>
</cp:coreProperties>
</file>