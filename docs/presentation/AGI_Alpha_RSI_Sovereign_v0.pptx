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15"/>
    <p:restoredTop sz="94610"/>
  </p:normalViewPr>
  <p:slideViewPr>
    <p:cSldViewPr snapToGrid="0" snapToObjects="1">
      <p:cViewPr varScale="1">
        <p:scale>
          <a:sx n="180" d="100"/>
          <a:sy n="180" d="100"/>
        </p:scale>
        <p:origin x="20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Frontier labs</c:v>
                </c:pt>
              </c:strCache>
            </c:strRef>
          </c:tx>
          <c:spPr>
            <a:solidFill>
              <a:srgbClr val="A79FC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Legibility</c:v>
                </c:pt>
                <c:pt idx="1">
                  <c:v>Control</c:v>
                </c:pt>
                <c:pt idx="2">
                  <c:v>Continuity</c:v>
                </c:pt>
                <c:pt idx="3">
                  <c:v>Coordination</c:v>
                </c:pt>
                <c:pt idx="4">
                  <c:v>Compounding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55</c:v>
                </c:pt>
                <c:pt idx="2">
                  <c:v>40</c:v>
                </c:pt>
                <c:pt idx="3">
                  <c:v>55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69-F343-AD3F-C3F2E35F42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AGI Alpha RSI</c:v>
                </c:pt>
              </c:strCache>
            </c:strRef>
          </c:tx>
          <c:spPr>
            <a:solidFill>
              <a:srgbClr val="B14E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Legibility</c:v>
                </c:pt>
                <c:pt idx="1">
                  <c:v>Control</c:v>
                </c:pt>
                <c:pt idx="2">
                  <c:v>Continuity</c:v>
                </c:pt>
                <c:pt idx="3">
                  <c:v>Coordination</c:v>
                </c:pt>
                <c:pt idx="4">
                  <c:v>Compounding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</c:v>
                </c:pt>
                <c:pt idx="1">
                  <c:v>88</c:v>
                </c:pt>
                <c:pt idx="2">
                  <c:v>90</c:v>
                </c:pt>
                <c:pt idx="3">
                  <c:v>80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69-F343-AD3F-C3F2E35F42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6CF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6CF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D6CF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899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AGI Alpha RSI — Sovereign Strategy Brief (Alpha v0, 2026-01-25), pp. 1–4.
- Background image: https://applescoop.org/image/wallpapers/mac/purple-abstract-liquid-gradient-unique-07-10-2024-1728360365-hd-wallpaper.jpg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executive summary and objective framing (brief pp. 2–3).
- Background image: https://images7.alphacoders.com/774/774362.jpg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pipeline stages and kernel guarantees (brief pp. 2–4).
- Background image: https://images2.alphacoders.com/652/652732.jpg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governance gates, OMNI authority limits, ECI semantics, and high-novelty skepticism (brief pp. 3–4).
- Background image: https://asset.gecdesigns.com/img/background-templates/abstract-wavy-purple-and-pink-gradient-background-design-sr31012402-1706715431755-cover.webp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Move‑37 breakthrough handling and novelty threshold (brief p. 4).
- Background image: https://images2.alphacoders.com/652/652732.jpg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governance mechanisms enabling legibility/control/continuity/coordination/compounding (brief pp. 2–5).
- Note: numeric scores are illustrative for briefing (not claimed as measured empirical values).
- Background image: https://images7.alphacoders.com/774/774362.jpg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RSI is governed, deterministic, replayable, baseline-comparative, and sovereign-scalable (brief pp. 2–4).
- Background image: https://asset.gecdesigns.com/img/background-templates/abstract-wavy-purple-and-pink-gradient-background-design-sr31012402-1706715431755-cover.webp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DARPA mission/origin: https://www.darpa.mil/about/innovation-timeline
- DARPA PM tenure (~4 years): https://www.ncbi.nlm.nih.gov/books/NBK36337/
- User-provided: RSI determinism, mechanical gates, and auditability (brief pp. 2–4).
- Background image: https://images2.alphacoders.com/652/652732.jpg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Manhattan scale/cost: https://www.energy.gov/management/articles/manhattan-project
- RAND history (Project RAND 1946): https://www.rand.org/about/history.html
- PALs / positive control background: https://en.wikipedia.org/wiki/Permissive_action_link
- User-provided: RSI determinism, auditability, and breakthrough protocol (brief pp. 2–4).
- Background image: https://applescoop.org/image/wallpapers/mac/purple-abstract-liquid-gradient-unique-07-10-2024-1728360365-hd-wallpaper.jpg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RSI program concept, phased deployment, and sovereign framing (brief pp. 4–5).
- Background image: https://images7.alphacoders.com/774/774362.jpg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phased roadmap and KPIs (brief p. 4).
- Background image: https://asset.gecdesigns.com/img/background-templates/abstract-wavy-purple-and-pink-gradient-background-design-sr31012402-1706715431755-cover.webp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governance mechanisms and append-only ledgers support institutional hardening (brief pp. 3–5).
- Background image: https://images2.alphacoders.com/652/652732.jpg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dossier options and Architect/Validator Council concept (brief p. 5).
- Background image: https://images7.alphacoders.com/774/774362.jpg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User-provided: dashboard metrics and phased governance hardening (brief pp. 4–5).
- Background image: https://applescoop.org/image/wallpapers/mac/purple-abstract-liquid-gradient-unique-07-10-2024-1728360365-hd-wallpaper.jpg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liquid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685800"/>
            <a:ext cx="10820095" cy="1874520"/>
          </a:xfrm>
          <a:prstGeom prst="roundRect">
            <a:avLst/>
          </a:prstGeom>
          <a:solidFill>
            <a:srgbClr val="0E061A">
              <a:alpha val="90000"/>
            </a:srgbClr>
          </a:solidFill>
          <a:ln w="15875">
            <a:solidFill>
              <a:srgbClr val="B14EFF">
                <a:alpha val="4500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97280" y="896112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1097280" y="1600200"/>
            <a:ext cx="99971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Invention Governance • Deterministic discovery → auditable advantage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402775" y="896112"/>
            <a:ext cx="2103120" cy="384048"/>
          </a:xfrm>
          <a:prstGeom prst="roundRect">
            <a:avLst/>
          </a:prstGeom>
          <a:solidFill>
            <a:srgbClr val="7A2BFF">
              <a:alpha val="95000"/>
            </a:srgbClr>
          </a:solidFill>
          <a:ln w="12700">
            <a:solidFill>
              <a:srgbClr val="7A2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02775" y="93268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788920"/>
            <a:ext cx="10820095" cy="3429000"/>
          </a:xfrm>
          <a:prstGeom prst="round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B14E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0120" y="3063240"/>
            <a:ext cx="102714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invention operations for open‑ended discovery, governed deployment, and compounding advantage.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0120" y="3913632"/>
            <a:ext cx="102714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Thesis: build the governance institution first — before AGI-scale systems mature.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0120" y="4434840"/>
            <a:ext cx="10271455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deterministic invention OS; artifacts are schema‑validated and replayable.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provides search control (allocation) but never outcome authority.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Breakthroughs are audited state transitions: reproduce → stress → persist → dossier.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purple_smooth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THESIS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 we wish existed before nuclear weapons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820095" cy="1920240"/>
          </a:xfrm>
          <a:prstGeom prst="roundRect">
            <a:avLst/>
          </a:prstGeom>
          <a:solidFill>
            <a:srgbClr val="120A22">
              <a:alpha val="92000"/>
            </a:srgbClr>
          </a:solidFill>
          <a:ln w="12700">
            <a:solidFill>
              <a:srgbClr val="B14EFF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1027145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“AGI Alpha RSI is the governance institution we wish had existed before nuclear weapons — and now have a chance to build before AGI‑scale systems mature.”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85800" y="3611880"/>
            <a:ext cx="5341468" cy="274320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64428" y="3611880"/>
            <a:ext cx="5341468" cy="274320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0120" y="38221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RSI 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4133088"/>
            <a:ext cx="5440680" cy="947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invention OS (pipeline + ledgers).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Governance-by-construction: mechanical gates.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breakthroughs packaged as dossiers.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46520" y="38221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RSI is not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4133088"/>
            <a:ext cx="5394960" cy="947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novelty mill or hype engine.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black-box “outcome authority”.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one-off research project — it is sovereign infrastructure.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purple_bars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KERNEL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invention OS (v8)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4160520" cy="530352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guarantees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965960"/>
            <a:ext cx="3703320" cy="1067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&amp; replay: temperature = 0; manifests reproduce cycles.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Schema-bound artifacts: failures hard-stop (no silent corruption).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discipline: incumbent/neighbor/null comparisons by default.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ledgers: monotonic state across runs.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74920" y="1417320"/>
            <a:ext cx="6430975" cy="530352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49240" y="1664208"/>
            <a:ext cx="5790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(target → … → promote)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49240" y="2148840"/>
            <a:ext cx="1324280" cy="713232"/>
          </a:xfrm>
          <a:prstGeom prst="roundRect">
            <a:avLst/>
          </a:prstGeom>
          <a:solidFill>
            <a:srgbClr val="0E061A"/>
          </a:solidFill>
          <a:ln w="19050">
            <a:solidFill>
              <a:srgbClr val="B14EFF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49240" y="2276856"/>
            <a:ext cx="1324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627800" y="2359152"/>
            <a:ext cx="274320" cy="292608"/>
          </a:xfrm>
          <a:prstGeom prst="right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38112" y="2148840"/>
            <a:ext cx="1324280" cy="713232"/>
          </a:xfrm>
          <a:prstGeom prst="roundRect">
            <a:avLst/>
          </a:prstGeom>
          <a:solidFill>
            <a:srgbClr val="0E061A"/>
          </a:solidFill>
          <a:ln w="19050">
            <a:solidFill>
              <a:srgbClr val="B14EFF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38112" y="2276856"/>
            <a:ext cx="1324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16672" y="2359152"/>
            <a:ext cx="274320" cy="292608"/>
          </a:xfrm>
          <a:prstGeom prst="right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326984" y="2148840"/>
            <a:ext cx="1324280" cy="713232"/>
          </a:xfrm>
          <a:prstGeom prst="roundRect">
            <a:avLst/>
          </a:prstGeom>
          <a:solidFill>
            <a:srgbClr val="0E061A"/>
          </a:solidFill>
          <a:ln w="19050">
            <a:solidFill>
              <a:srgbClr val="B14EFF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326984" y="2276856"/>
            <a:ext cx="1324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605543" y="2359152"/>
            <a:ext cx="274320" cy="292608"/>
          </a:xfrm>
          <a:prstGeom prst="right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815855" y="2148840"/>
            <a:ext cx="1324280" cy="713232"/>
          </a:xfrm>
          <a:prstGeom prst="roundRect">
            <a:avLst/>
          </a:prstGeom>
          <a:solidFill>
            <a:srgbClr val="0E061A"/>
          </a:solidFill>
          <a:ln w="19050">
            <a:solidFill>
              <a:srgbClr val="B14EFF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815855" y="2276856"/>
            <a:ext cx="1324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49240" y="3429000"/>
            <a:ext cx="1324280" cy="713232"/>
          </a:xfrm>
          <a:prstGeom prst="roundRect">
            <a:avLst/>
          </a:prstGeom>
          <a:solidFill>
            <a:srgbClr val="0E061A"/>
          </a:solidFill>
          <a:ln w="19050">
            <a:solidFill>
              <a:srgbClr val="B14EFF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349240" y="3557016"/>
            <a:ext cx="1324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TEST‑PLAN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627800" y="3639312"/>
            <a:ext cx="274320" cy="292608"/>
          </a:xfrm>
          <a:prstGeom prst="right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838112" y="3429000"/>
            <a:ext cx="1324280" cy="713232"/>
          </a:xfrm>
          <a:prstGeom prst="roundRect">
            <a:avLst/>
          </a:prstGeom>
          <a:solidFill>
            <a:srgbClr val="0E061A"/>
          </a:solidFill>
          <a:ln w="19050">
            <a:solidFill>
              <a:srgbClr val="B14EFF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38112" y="3557016"/>
            <a:ext cx="1324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116672" y="3639312"/>
            <a:ext cx="274320" cy="292608"/>
          </a:xfrm>
          <a:prstGeom prst="right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326984" y="3429000"/>
            <a:ext cx="1324280" cy="713232"/>
          </a:xfrm>
          <a:prstGeom prst="roundRect">
            <a:avLst/>
          </a:prstGeom>
          <a:solidFill>
            <a:srgbClr val="0E061A"/>
          </a:solidFill>
          <a:ln w="19050">
            <a:solidFill>
              <a:srgbClr val="B14EFF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326984" y="3557016"/>
            <a:ext cx="1324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605543" y="3639312"/>
            <a:ext cx="274320" cy="292608"/>
          </a:xfrm>
          <a:prstGeom prst="right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815855" y="3429000"/>
            <a:ext cx="1324280" cy="713232"/>
          </a:xfrm>
          <a:prstGeom prst="roundRect">
            <a:avLst/>
          </a:prstGeom>
          <a:solidFill>
            <a:srgbClr val="0E061A"/>
          </a:solidFill>
          <a:ln w="19050">
            <a:solidFill>
              <a:srgbClr val="B14EFF">
                <a:alpha val="65000"/>
              </a:srgbClr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815855" y="3557016"/>
            <a:ext cx="1324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0313403" y="3090672"/>
            <a:ext cx="329184" cy="384048"/>
          </a:xfrm>
          <a:prstGeom prst="down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349240" y="4800600"/>
            <a:ext cx="5790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influences targeting/interestingness only — never insertion authority.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waves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control ≠ outcome authority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820095" cy="1307592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is encouraged, but outcomes are admitted only through mechanical gates.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19456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improves allocation; it does not confer authority.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917937"/>
            <a:ext cx="5135728" cy="141732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05840" y="3237977"/>
            <a:ext cx="457200" cy="457200"/>
          </a:xfrm>
          <a:prstGeom prst="roundRect">
            <a:avLst/>
          </a:prstGeom>
          <a:solidFill>
            <a:srgbClr val="FF5C77"/>
          </a:solidFill>
          <a:ln w="12700">
            <a:solidFill>
              <a:srgbClr val="FF5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554480" y="3173969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54480" y="3576305"/>
            <a:ext cx="4038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Prohibited-domain detection + risk reports gate outcomes.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70168" y="2917937"/>
            <a:ext cx="5135728" cy="141732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690208" y="3237977"/>
            <a:ext cx="457200" cy="457200"/>
          </a:xfrm>
          <a:prstGeom prst="roundRect">
            <a:avLst/>
          </a:prstGeom>
          <a:solidFill>
            <a:srgbClr val="36E1C6"/>
          </a:solidFill>
          <a:ln w="12700">
            <a:solidFill>
              <a:srgbClr val="36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238848" y="3173969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38848" y="3576305"/>
            <a:ext cx="4038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semantics: confidence cannot inflate without execution.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" y="4838177"/>
            <a:ext cx="5135728" cy="141732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05840" y="5158217"/>
            <a:ext cx="457200" cy="457200"/>
          </a:xfrm>
          <a:prstGeom prst="round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554480" y="5094209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54480" y="5496545"/>
            <a:ext cx="4038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comparative vs incumbent/neighbor/null baseline.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370168" y="4838177"/>
            <a:ext cx="5135728" cy="141732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690208" y="5158217"/>
            <a:ext cx="457200" cy="457200"/>
          </a:xfrm>
          <a:prstGeom prst="roundRect">
            <a:avLst/>
          </a:prstGeom>
          <a:solidFill>
            <a:srgbClr val="B14EFF"/>
          </a:solidFill>
          <a:ln w="12700">
            <a:solidFill>
              <a:srgbClr val="B14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238848" y="5094209"/>
            <a:ext cx="412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38848" y="5496545"/>
            <a:ext cx="4038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novelty forces probe-first + stress-tested advantage.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purple_bars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CONTROL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Move‑37 handling as a deterministic state transition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5532120" cy="4837176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NoveltyDistance and AdvantageDelta cross thresholds, RSI triggers mandatory steps: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60120" y="2377440"/>
            <a:ext cx="4983480" cy="777240"/>
          </a:xfrm>
          <a:prstGeom prst="roundRect">
            <a:avLst/>
          </a:prstGeom>
          <a:solidFill>
            <a:srgbClr val="0E061A"/>
          </a:solidFill>
          <a:ln w="15875">
            <a:solidFill>
              <a:srgbClr val="B14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3000" y="24871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240280" y="24871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+ risk / confidence / ECI gates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46120" y="3127248"/>
            <a:ext cx="320040" cy="320040"/>
          </a:xfrm>
          <a:prstGeom prst="down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60120" y="3273552"/>
            <a:ext cx="4983480" cy="777240"/>
          </a:xfrm>
          <a:prstGeom prst="roundRect">
            <a:avLst/>
          </a:prstGeom>
          <a:solidFill>
            <a:srgbClr val="0E061A"/>
          </a:solidFill>
          <a:ln w="15875">
            <a:solidFill>
              <a:srgbClr val="B14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43000" y="3383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40280" y="33832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candidate + baseline; verify hashes (fixed seeds)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46120" y="4023360"/>
            <a:ext cx="320040" cy="320040"/>
          </a:xfrm>
          <a:prstGeom prst="down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60120" y="4169664"/>
            <a:ext cx="4983480" cy="777240"/>
          </a:xfrm>
          <a:prstGeom prst="roundRect">
            <a:avLst/>
          </a:prstGeom>
          <a:solidFill>
            <a:srgbClr val="0E061A"/>
          </a:solidFill>
          <a:ln w="15875">
            <a:solidFill>
              <a:srgbClr val="B14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43000" y="42793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240280" y="427939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shocks; re-evaluate deltas; log sensitivity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46120" y="4919472"/>
            <a:ext cx="320040" cy="320040"/>
          </a:xfrm>
          <a:prstGeom prst="down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60120" y="5065776"/>
            <a:ext cx="4983480" cy="777240"/>
          </a:xfrm>
          <a:prstGeom prst="roundRect">
            <a:avLst/>
          </a:prstGeom>
          <a:solidFill>
            <a:srgbClr val="0E061A"/>
          </a:solidFill>
          <a:ln w="15875">
            <a:solidFill>
              <a:srgbClr val="B14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43000" y="51755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240280" y="517550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positive advantage under shocks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55080" y="1417320"/>
            <a:ext cx="5150815" cy="4837176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629400" y="1664208"/>
            <a:ext cx="4510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novelty ⇒ higher skepticism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629400" y="2057400"/>
            <a:ext cx="45107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≥ 0.80 forces probe‑first behavior and ADVANTAGE_PERSISTENCE uncertainty.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629400" y="2880360"/>
            <a:ext cx="4510735" cy="1143000"/>
          </a:xfrm>
          <a:prstGeom prst="roundRect">
            <a:avLst/>
          </a:prstGeom>
          <a:solidFill>
            <a:srgbClr val="7A2BFF">
              <a:alpha val="85000"/>
            </a:srgbClr>
          </a:solidFill>
          <a:ln w="12700">
            <a:solidFill>
              <a:srgbClr val="7A2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12280" y="3035808"/>
            <a:ext cx="4144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Breakthroughs are admitted only as audited state transitions — not as narratives.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629400" y="4251960"/>
            <a:ext cx="45107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authority remains mechanical: risk, evidence, baseline, persistence.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purple_smooth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State-capacity advantage (institutional, not just capability)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5257800" cy="4873752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capacity proxies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965960"/>
            <a:ext cx="4754880" cy="1277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Legibility: replayability + audit trail.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mechanical gates; OMNI has no outcome authority.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Continuity: append-only ledgers survive churn.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Coordination: dossiers + schema-bound artifacts.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Compounding: stepping stones retained; regression detectable.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5333695" cy="4873752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46520" y="1664208"/>
            <a:ext cx="4693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comparison (0–100)</a:t>
            </a:r>
            <a:endParaRPr lang="en-US" sz="1300" dirty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3918436381"/>
              </p:ext>
            </p:extLst>
          </p:nvPr>
        </p:nvGraphicFramePr>
        <p:xfrm>
          <a:off x="6400800" y="1936904"/>
          <a:ext cx="5013655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waves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complements frontier labs — it does not imitate them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820095" cy="530352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labs optimize for capability velocity. RSI optimizes for durable, auditable compounding advantage under governance.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60120" y="2377440"/>
            <a:ext cx="10271455" cy="4206240"/>
          </a:xfrm>
          <a:prstGeom prst="rect">
            <a:avLst/>
          </a:prstGeom>
          <a:solidFill>
            <a:srgbClr val="000000">
              <a:alpha val="2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095848" y="2377440"/>
            <a:ext cx="18288" cy="4206240"/>
          </a:xfrm>
          <a:prstGeom prst="rect">
            <a:avLst/>
          </a:prstGeom>
          <a:solidFill>
            <a:srgbClr val="2A1A44"/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60120" y="4480560"/>
            <a:ext cx="10271455" cy="18288"/>
          </a:xfrm>
          <a:prstGeom prst="rect">
            <a:avLst/>
          </a:prstGeom>
          <a:solidFill>
            <a:srgbClr val="2A1A44"/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234440" y="2651760"/>
            <a:ext cx="4587088" cy="1554480"/>
          </a:xfrm>
          <a:prstGeom prst="roundRect">
            <a:avLst/>
          </a:prstGeom>
          <a:solidFill>
            <a:srgbClr val="120A22">
              <a:alpha val="82000"/>
            </a:srgbClr>
          </a:solidFill>
          <a:ln w="15875">
            <a:solidFill>
              <a:srgbClr val="A79FC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463040" y="2816352"/>
            <a:ext cx="412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sprint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3154680"/>
            <a:ext cx="4129888" cy="813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prototypes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Taste-driven iteration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chasing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70168" y="2651760"/>
            <a:ext cx="4587088" cy="1554480"/>
          </a:xfrm>
          <a:prstGeom prst="roundRect">
            <a:avLst/>
          </a:prstGeom>
          <a:solidFill>
            <a:srgbClr val="120A22">
              <a:alpha val="82000"/>
            </a:srgbClr>
          </a:solidFill>
          <a:ln w="15875">
            <a:solidFill>
              <a:srgbClr val="B14E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98768" y="2816352"/>
            <a:ext cx="412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sprint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98768" y="3154680"/>
            <a:ext cx="4129888" cy="813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probes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deltas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234440" y="4754880"/>
            <a:ext cx="4587088" cy="1554480"/>
          </a:xfrm>
          <a:prstGeom prst="roundRect">
            <a:avLst/>
          </a:prstGeom>
          <a:solidFill>
            <a:srgbClr val="120A22">
              <a:alpha val="82000"/>
            </a:srgbClr>
          </a:solidFill>
          <a:ln w="15875">
            <a:solidFill>
              <a:srgbClr val="FF5C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63040" y="4919472"/>
            <a:ext cx="412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bureaucracy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63040" y="5257800"/>
            <a:ext cx="4129888" cy="813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approvals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measurement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compounding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70168" y="4754880"/>
            <a:ext cx="4587088" cy="1554480"/>
          </a:xfrm>
          <a:prstGeom prst="roundRect">
            <a:avLst/>
          </a:prstGeom>
          <a:solidFill>
            <a:srgbClr val="120A22">
              <a:alpha val="82000"/>
            </a:srgbClr>
          </a:solidFill>
          <a:ln w="15875">
            <a:solidFill>
              <a:srgbClr val="D7B56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98768" y="4919472"/>
            <a:ext cx="412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98768" y="5257800"/>
            <a:ext cx="4129888" cy="813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replay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promotion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dossiers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purple_bars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DESIGN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is necessary — but insufficient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5715000" cy="530352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strengths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965960"/>
            <a:ext cx="5349240" cy="858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High-risk, high-reward R&amp;D engine (since 1958).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Catalyzes breakthroughs via time-bounded programs.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autonomy; rapid portfolio churn.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35204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insufficient for AGI governance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3822192"/>
            <a:ext cx="5349240" cy="858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Project-based: not a permanent control plane.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not mechanically governed after transition.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PM tenures optimize velocity, not continuity.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29400" y="1417320"/>
            <a:ext cx="4876495" cy="530352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03720" y="1664208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fills the gap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03720" y="2057400"/>
            <a:ext cx="4327855" cy="1143000"/>
          </a:xfrm>
          <a:prstGeom prst="roundRect">
            <a:avLst/>
          </a:prstGeom>
          <a:solidFill>
            <a:srgbClr val="7A2BFF">
              <a:alpha val="90000"/>
            </a:srgbClr>
          </a:solidFill>
          <a:ln w="12700">
            <a:solidFill>
              <a:srgbClr val="7A2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086600" y="2176272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Command-and-control for invention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086600" y="2578608"/>
            <a:ext cx="396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pipeline + mechanical gates + append-only ledgers + dossier packaging.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903720" y="3456432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outcome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03720" y="3767328"/>
            <a:ext cx="4327855" cy="858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discovers; RSI governs discovery.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funds projects; RSI institutionalizes trust.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is the layer that survives personnel, politics, and time.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liquid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LENS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• RAND • Nuclear C2 → RSI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820095" cy="530352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60120" y="1783080"/>
            <a:ext cx="3240938" cy="306324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6510">
            <a:solidFill>
              <a:srgbClr val="FF5C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34440" y="2011680"/>
            <a:ext cx="2692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Project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34440" y="2359152"/>
            <a:ext cx="2692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first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34440" y="2697480"/>
            <a:ext cx="2692298" cy="813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Crash-program speed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execution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arrived later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75378" y="1783080"/>
            <a:ext cx="3240938" cy="306324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6510">
            <a:solidFill>
              <a:srgbClr val="FFCC6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49698" y="2011680"/>
            <a:ext cx="2692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749698" y="2359152"/>
            <a:ext cx="2692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doctrine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49698" y="2697480"/>
            <a:ext cx="2692298" cy="813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analysis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Legibility for decision-makers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advisory capacity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90637" y="1783080"/>
            <a:ext cx="3240938" cy="306324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6510">
            <a:solidFill>
              <a:srgbClr val="36E1C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64957" y="2011680"/>
            <a:ext cx="2692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C2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64957" y="2359152"/>
            <a:ext cx="2692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verification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64957" y="2697480"/>
            <a:ext cx="2692298" cy="813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control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defaults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Audit/authorization logic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60120" y="4526280"/>
            <a:ext cx="10271455" cy="1005840"/>
          </a:xfrm>
          <a:prstGeom prst="roundRect">
            <a:avLst/>
          </a:prstGeom>
          <a:solidFill>
            <a:srgbClr val="7A2BFF">
              <a:alpha val="88000"/>
            </a:srgbClr>
          </a:solidFill>
          <a:ln w="12700">
            <a:solidFill>
              <a:srgbClr val="7A2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34440" y="4645152"/>
            <a:ext cx="97228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unifies the trilogy: discovery velocity + institutional legibility + command-and-control governance — inside the invention loop.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purple_smooth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LOGIC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Defense-budget language (SEI: Strategic Enabling Infrastructure)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5623560" cy="530352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classification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2029968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Enabling Infrastructure (SEI)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2578608"/>
            <a:ext cx="5349240" cy="858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to test &amp; evaluation commands, ISR tasking, nuclear surety.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ROI of all downstream AI programs via audit-ready proofs.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Catastrophic-risk insurance: filters false breakthroughs &amp; unsafe deployment.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46520" y="1417320"/>
            <a:ext cx="5059375" cy="530352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20840" y="1664208"/>
            <a:ext cx="4510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Order-of-magnitude investment bands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20840" y="2148840"/>
            <a:ext cx="4510735" cy="82296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4944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49440" y="2569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$---------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509760" y="2423160"/>
            <a:ext cx="1584655" cy="292608"/>
          </a:xfrm>
          <a:prstGeom prst="round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509760" y="2423160"/>
            <a:ext cx="253545" cy="292608"/>
          </a:xfrm>
          <a:prstGeom prst="roundRect">
            <a:avLst/>
          </a:prstGeom>
          <a:solidFill>
            <a:srgbClr val="B14EFF">
              <a:alpha val="9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720840" y="3291840"/>
            <a:ext cx="4510735" cy="82296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4944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49440" y="3712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$------------ total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509760" y="3566160"/>
            <a:ext cx="1584655" cy="292608"/>
          </a:xfrm>
          <a:prstGeom prst="round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509760" y="3566160"/>
            <a:ext cx="1584655" cy="292608"/>
          </a:xfrm>
          <a:prstGeom prst="roundRect">
            <a:avLst/>
          </a:prstGeom>
          <a:solidFill>
            <a:srgbClr val="B14EFF">
              <a:alpha val="9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720840" y="4434840"/>
            <a:ext cx="4510735" cy="82296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94944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O&amp;M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49440" y="4855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$---------/yr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509760" y="4709160"/>
            <a:ext cx="1584655" cy="292608"/>
          </a:xfrm>
          <a:prstGeom prst="round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509760" y="4709160"/>
            <a:ext cx="221852" cy="292608"/>
          </a:xfrm>
          <a:prstGeom prst="roundRect">
            <a:avLst/>
          </a:prstGeom>
          <a:solidFill>
            <a:srgbClr val="B14EFF">
              <a:alpha val="9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720840" y="5687568"/>
            <a:ext cx="4510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bands for briefing; refine via national budgeting.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waves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success metrics (phased sovereign deployment)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820095" cy="530352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60120" y="1783080"/>
            <a:ext cx="3240938" cy="4462272"/>
          </a:xfrm>
          <a:prstGeom prst="roundRect">
            <a:avLst/>
          </a:prstGeom>
          <a:solidFill>
            <a:srgbClr val="120A22">
              <a:alpha val="90000"/>
            </a:srgbClr>
          </a:solidFill>
          <a:ln w="15875">
            <a:solidFill>
              <a:srgbClr val="B14E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88720" y="201168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88720" y="2468880"/>
            <a:ext cx="2783738" cy="18288"/>
          </a:xfrm>
          <a:prstGeom prst="rect">
            <a:avLst/>
          </a:prstGeom>
          <a:solidFill>
            <a:srgbClr val="B14EFF">
              <a:alpha val="90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88720" y="2587752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≥95% cycles replayable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2953512"/>
            <a:ext cx="2783738" cy="947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runner + schema registry</a:t>
            </a:r>
            <a:endParaRPr lang="en-US" sz="1200" dirty="0"/>
          </a:p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library + null baseline policy</a:t>
            </a:r>
            <a:endParaRPr lang="en-US" sz="1200" dirty="0"/>
          </a:p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ECI + evidence objects</a:t>
            </a:r>
            <a:endParaRPr lang="en-US" sz="1200" dirty="0"/>
          </a:p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end-to-end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75378" y="1783080"/>
            <a:ext cx="3240938" cy="4462272"/>
          </a:xfrm>
          <a:prstGeom prst="roundRect">
            <a:avLst/>
          </a:prstGeom>
          <a:solidFill>
            <a:srgbClr val="120A22">
              <a:alpha val="90000"/>
            </a:srgbClr>
          </a:solidFill>
          <a:ln w="15875">
            <a:solidFill>
              <a:srgbClr val="FFCC6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03978" y="201168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03978" y="2468880"/>
            <a:ext cx="2783738" cy="18288"/>
          </a:xfrm>
          <a:prstGeom prst="rect">
            <a:avLst/>
          </a:prstGeom>
          <a:solidFill>
            <a:srgbClr val="FFCC66">
              <a:alpha val="90000"/>
            </a:srgbClr>
          </a:solidFill>
          <a:ln w="12700">
            <a:solidFill>
              <a:srgbClr val="FFCC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03978" y="2587752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sustained AdvantageDelta vs incumbents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03978" y="2953512"/>
            <a:ext cx="2783738" cy="947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archive coverage; bridge exploration</a:t>
            </a:r>
            <a:endParaRPr lang="en-US" sz="1200" dirty="0"/>
          </a:p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probe ROI via EIG scheduling</a:t>
            </a:r>
            <a:endParaRPr lang="en-US" sz="1200" dirty="0"/>
          </a:p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dossier workflow for Move‑37</a:t>
            </a:r>
            <a:endParaRPr lang="en-US" sz="1200" dirty="0"/>
          </a:p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conservative budgets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90637" y="1783080"/>
            <a:ext cx="3240938" cy="4462272"/>
          </a:xfrm>
          <a:prstGeom prst="roundRect">
            <a:avLst/>
          </a:prstGeom>
          <a:solidFill>
            <a:srgbClr val="120A22">
              <a:alpha val="90000"/>
            </a:srgbClr>
          </a:solidFill>
          <a:ln w="15875">
            <a:solidFill>
              <a:srgbClr val="36E1C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19237" y="201168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Autonomy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19237" y="2468880"/>
            <a:ext cx="2783738" cy="18288"/>
          </a:xfrm>
          <a:prstGeom prst="rect">
            <a:avLst/>
          </a:prstGeom>
          <a:solidFill>
            <a:srgbClr val="36E1C6">
              <a:alpha val="90000"/>
            </a:srgbClr>
          </a:solidFill>
          <a:ln w="12700">
            <a:solidFill>
              <a:srgbClr val="36E1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19237" y="2587752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E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validated, repeatable compounding discovery rate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19237" y="2953512"/>
            <a:ext cx="2783738" cy="947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governance &amp; security controls</a:t>
            </a:r>
            <a:endParaRPr lang="en-US" sz="1200" dirty="0"/>
          </a:p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policy-shock suites + persistence gates</a:t>
            </a:r>
            <a:endParaRPr lang="en-US" sz="1200" dirty="0"/>
          </a:p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Institutionalize invention capital allocation</a:t>
            </a:r>
            <a:endParaRPr lang="en-US" sz="1200" dirty="0"/>
          </a:p>
          <a:p>
            <a:pPr marL="137160" indent="-13716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execution lanes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purple_bars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RED‑TEAM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 institutions fail (and how RSI hardens)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820095" cy="530352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to assume, not deny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2148840"/>
            <a:ext cx="10271455" cy="713232"/>
          </a:xfrm>
          <a:prstGeom prst="roundRect">
            <a:avLst/>
          </a:prstGeom>
          <a:solidFill>
            <a:srgbClr val="120A22">
              <a:alpha val="86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8992" y="2313432"/>
            <a:ext cx="384048" cy="384048"/>
          </a:xfrm>
          <a:prstGeom prst="roundRect">
            <a:avLst/>
          </a:prstGeom>
          <a:solidFill>
            <a:srgbClr val="FF5C77"/>
          </a:solidFill>
          <a:ln w="12700">
            <a:solidFill>
              <a:srgbClr val="FF5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54480" y="22585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&amp; “hair triggers”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20840" y="2258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26680" y="2258568"/>
            <a:ext cx="3459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 + mandatory reproduction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3017520"/>
            <a:ext cx="10271455" cy="713232"/>
          </a:xfrm>
          <a:prstGeom prst="roundRect">
            <a:avLst/>
          </a:prstGeom>
          <a:solidFill>
            <a:srgbClr val="120A22">
              <a:alpha val="86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078992" y="3182112"/>
            <a:ext cx="384048" cy="384048"/>
          </a:xfrm>
          <a:prstGeom prst="round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554480" y="3127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of deviance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20840" y="3127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26680" y="3127248"/>
            <a:ext cx="3459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Hard-stop semantics; non-bypassable gates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3886200"/>
            <a:ext cx="10271455" cy="713232"/>
          </a:xfrm>
          <a:prstGeom prst="roundRect">
            <a:avLst/>
          </a:prstGeom>
          <a:solidFill>
            <a:srgbClr val="120A22">
              <a:alpha val="86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78992" y="4050792"/>
            <a:ext cx="384048" cy="384048"/>
          </a:xfrm>
          <a:prstGeom prst="roundRect">
            <a:avLst/>
          </a:prstGeom>
          <a:solidFill>
            <a:srgbClr val="36E1C6"/>
          </a:solidFill>
          <a:ln w="12700">
            <a:solidFill>
              <a:srgbClr val="36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554480" y="3995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/ metric capture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20840" y="39959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26680" y="3995928"/>
            <a:ext cx="3459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caps; stress tests; calibration drift monitoring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4754880"/>
            <a:ext cx="10271455" cy="713232"/>
          </a:xfrm>
          <a:prstGeom prst="roundRect">
            <a:avLst/>
          </a:prstGeom>
          <a:solidFill>
            <a:srgbClr val="120A22">
              <a:alpha val="86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78992" y="4919472"/>
            <a:ext cx="384048" cy="384048"/>
          </a:xfrm>
          <a:prstGeom prst="roundRect">
            <a:avLst/>
          </a:prstGeom>
          <a:solidFill>
            <a:srgbClr val="B14EFF"/>
          </a:solidFill>
          <a:ln w="12700">
            <a:solidFill>
              <a:srgbClr val="B14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554480" y="48646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Stovepipes &amp; lost context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720840" y="48646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Hardening: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726680" y="4864608"/>
            <a:ext cx="3459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+ dossiers + schema-bound artifacts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60120" y="5623560"/>
            <a:ext cx="10271455" cy="713232"/>
          </a:xfrm>
          <a:prstGeom prst="roundRect">
            <a:avLst/>
          </a:prstGeom>
          <a:solidFill>
            <a:srgbClr val="120A22">
              <a:alpha val="86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078992" y="5788152"/>
            <a:ext cx="384048" cy="384048"/>
          </a:xfrm>
          <a:prstGeom prst="roundRect">
            <a:avLst/>
          </a:prstGeom>
          <a:solidFill>
            <a:srgbClr val="D7B56D"/>
          </a:solidFill>
          <a:ln w="12700">
            <a:solidFill>
              <a:srgbClr val="D7B5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554480" y="5733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Political/contractor capture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20840" y="57332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Hardening: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726680" y="5733288"/>
            <a:ext cx="3459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Architect/Validator Council + append-only ledgers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purple_smooth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PACKAGING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+ Architect/Validator Council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5852160" cy="4837176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options (outward-facing sovereign artifacts)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2011680"/>
            <a:ext cx="5532120" cy="1067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Dossier: narrative, execution-ready, light verification.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Dossier: military-grade binder; reproducibility + compliance posture.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Dossier: state-capacity framing; boundaries + legitimacy.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Architect/Validator Council: design authority + independent verification.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12280" y="1417320"/>
            <a:ext cx="4693615" cy="4837176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86600" y="1664208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architecture (illustrative)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086600" y="2148840"/>
            <a:ext cx="4053535" cy="54864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5875">
            <a:solidFill>
              <a:srgbClr val="D7B56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0" y="2295144"/>
            <a:ext cx="3596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Steering Authority (policy / budget / boundaries)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48776" y="2715768"/>
            <a:ext cx="329184" cy="256032"/>
          </a:xfrm>
          <a:prstGeom prst="down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086600" y="3017520"/>
            <a:ext cx="4053535" cy="54864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5875">
            <a:solidFill>
              <a:srgbClr val="B14E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0" y="3163824"/>
            <a:ext cx="3596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Architect/Validator Council (stop authority + independent verification)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948776" y="3584448"/>
            <a:ext cx="329184" cy="256032"/>
          </a:xfrm>
          <a:prstGeom prst="down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086600" y="3886200"/>
            <a:ext cx="4053535" cy="54864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5875">
            <a:solidFill>
              <a:srgbClr val="36E1C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0" y="4032504"/>
            <a:ext cx="3596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Kernel (deterministic pipeline + ledgers + gates)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948776" y="4453128"/>
            <a:ext cx="329184" cy="256032"/>
          </a:xfrm>
          <a:prstGeom prst="downArrow">
            <a:avLst/>
          </a:prstGeom>
          <a:solidFill>
            <a:srgbClr val="B14EFF">
              <a:alpha val="85000"/>
            </a:srgbClr>
          </a:solidFill>
          <a:ln w="12700">
            <a:solidFill>
              <a:srgbClr val="B14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086600" y="4754880"/>
            <a:ext cx="4053535" cy="54864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5875">
            <a:solidFill>
              <a:srgbClr val="A79FC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315200" y="4901184"/>
            <a:ext cx="3596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lanes (partners, labs, operators) — governed by dossiers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si_deck_assets_small/bg_liquid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566928"/>
            <a:ext cx="10820095" cy="658368"/>
          </a:xfrm>
          <a:prstGeom prst="rect">
            <a:avLst/>
          </a:prstGeom>
          <a:solidFill>
            <a:srgbClr val="0E061A">
              <a:alpha val="88000"/>
            </a:srgbClr>
          </a:solidFill>
          <a:ln w="12700">
            <a:solidFill>
              <a:srgbClr val="2A1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7680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80360" y="6766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pilot (with hard gates)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6583680" cy="5303520"/>
          </a:xfrm>
          <a:prstGeom prst="roundRect">
            <a:avLst/>
          </a:prstGeom>
          <a:solidFill>
            <a:srgbClr val="120A22">
              <a:alpha val="88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6642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operational dashboard (what leadership should see)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2011680"/>
            <a:ext cx="6263640" cy="12026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Replayability: % cycles reproducible from manifests; schema failure rate.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quality: executed vs simulated share; ECI distribution; calibration drift.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quality: novelty distribution; probe ROI; stepping-stone reuse.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confirmation: AdvantageDelta vs baselines; shock persistence pass rate.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risk gate block rate; prohibited-domain detection; adverse incidents.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43800" y="1417320"/>
            <a:ext cx="3962095" cy="5303520"/>
          </a:xfrm>
          <a:prstGeom prst="roundRect">
            <a:avLst/>
          </a:prstGeom>
          <a:solidFill>
            <a:srgbClr val="120A22">
              <a:alpha val="90000"/>
            </a:srgbClr>
          </a:solidFill>
          <a:ln w="12700">
            <a:solidFill>
              <a:srgbClr val="2A1A44"/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18120" y="1664208"/>
            <a:ext cx="3413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asks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18120" y="2011680"/>
            <a:ext cx="3413455" cy="1067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pilot with ≥95% replayability KPI.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sovereign security boundary (compute + data + logs).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Constitute Architect/Validator Council with stop authority.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6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dossier standard for any Move‑37 candidate.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18120" y="4983480"/>
            <a:ext cx="3413455" cy="960120"/>
          </a:xfrm>
          <a:prstGeom prst="roundRect">
            <a:avLst/>
          </a:prstGeom>
          <a:solidFill>
            <a:srgbClr val="7A2BFF">
              <a:alpha val="92000"/>
            </a:srgbClr>
          </a:solidFill>
          <a:ln w="12700">
            <a:solidFill>
              <a:srgbClr val="7A2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46720" y="5138928"/>
            <a:ext cx="2956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governable invention-capital infrastructure that compounds advantage with receipts.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6382512"/>
            <a:ext cx="11185855" cy="18288"/>
          </a:xfrm>
          <a:prstGeom prst="rect">
            <a:avLst/>
          </a:prstGeom>
          <a:solidFill>
            <a:srgbClr val="B14EFF">
              <a:alpha val="65000"/>
            </a:srgbClr>
          </a:solidFill>
          <a:ln w="12700">
            <a:solidFill>
              <a:srgbClr val="B14E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Invention Governance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140135" y="64556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2028</Words>
  <Application>Microsoft Macintosh PowerPoint</Application>
  <PresentationFormat>Widescreen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Sovereign Strategy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Sovereign Invention Governance</dc:subject>
  <dc:creator>AGI Alpha RSI</dc:creator>
  <cp:lastModifiedBy>Vincent Boucher</cp:lastModifiedBy>
  <cp:revision>2</cp:revision>
  <dcterms:created xsi:type="dcterms:W3CDTF">2026-01-25T10:13:30Z</dcterms:created>
  <dcterms:modified xsi:type="dcterms:W3CDTF">2026-01-25T14:05:24Z</dcterms:modified>
</cp:coreProperties>
</file>