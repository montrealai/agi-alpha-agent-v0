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73"/>
    <p:restoredTop sz="94610"/>
  </p:normalViewPr>
  <p:slideViewPr>
    <p:cSldViewPr snapToGrid="0" snapToObjects="1">
      <p:cViewPr varScale="1">
        <p:scale>
          <a:sx n="192" d="100"/>
          <a:sy n="192" d="100"/>
        </p:scale>
        <p:origin x="106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3730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gi888v1_opt.jpg"/>
          <p:cNvPicPr>
            <a:picLocks noChangeAspect="1"/>
          </p:cNvPicPr>
          <p:nvPr/>
        </p:nvPicPr>
        <p:blipFill>
          <a:blip r:embed="rId3"/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713232" y="384048"/>
            <a:ext cx="201168" cy="201168"/>
          </a:xfrm>
          <a:prstGeom prst="diamond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63524" y="411480"/>
            <a:ext cx="201168" cy="201168"/>
          </a:xfrm>
          <a:prstGeom prst="diamond">
            <a:avLst/>
          </a:prstGeom>
          <a:solidFill>
            <a:srgbClr val="FBBF24">
              <a:alpha val="75000"/>
            </a:srgbClr>
          </a:solidFill>
          <a:ln w="12700">
            <a:solidFill>
              <a:srgbClr val="FBBF24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05840" y="3291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MONTREAL.AI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" y="2057400"/>
            <a:ext cx="10765231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MONTREAL.AI × ERC‑8004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713232" y="2926080"/>
            <a:ext cx="1076523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Full‑Stack Trust Layer for AI Agents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13232" y="3401568"/>
            <a:ext cx="107652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7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trust signals → on‑chain settlement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13232" y="5943600"/>
            <a:ext cx="1076523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 •  AGI.Eth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Qmaf5mPPxKMzkrysK2v3fkp1VKoqRM9q6BR9qC5GdVzT5H_opt.jpg"/>
          <p:cNvPicPr>
            <a:picLocks noChangeAspect="1"/>
          </p:cNvPicPr>
          <p:nvPr/>
        </p:nvPicPr>
        <p:blipFill>
          <a:blip r:embed="rId3"/>
          <a:srcRect l="9447" r="9447"/>
          <a:stretch/>
        </p:blipFill>
        <p:spPr>
          <a:xfrm>
            <a:off x="6629400" y="0"/>
            <a:ext cx="5562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29400" y="0"/>
            <a:ext cx="5562295" cy="6858000"/>
          </a:xfrm>
          <a:prstGeom prst="rect">
            <a:avLst/>
          </a:prstGeom>
          <a:solidFill>
            <a:srgbClr val="0B0B12">
              <a:alpha val="60000"/>
            </a:srgbClr>
          </a:solidFill>
          <a:ln w="12700">
            <a:solidFill>
              <a:srgbClr val="0B0B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713232" y="384048"/>
            <a:ext cx="201168" cy="201168"/>
          </a:xfrm>
          <a:prstGeom prst="diamond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63524" y="411480"/>
            <a:ext cx="201168" cy="201168"/>
          </a:xfrm>
          <a:prstGeom prst="diamond">
            <a:avLst/>
          </a:prstGeom>
          <a:solidFill>
            <a:srgbClr val="FBBF24">
              <a:alpha val="75000"/>
            </a:srgbClr>
          </a:solidFill>
          <a:ln w="12700">
            <a:solidFill>
              <a:srgbClr val="FBBF24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05840" y="3291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MONTREAL.AI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13232" y="713232"/>
            <a:ext cx="10765231" cy="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655503" y="646480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2/13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3232" y="566928"/>
            <a:ext cx="1076523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synthesis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713232" y="1133856"/>
            <a:ext cx="107652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7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separation: signaling vs enforcement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13232" y="1691640"/>
            <a:ext cx="5669280" cy="42976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pPr marL="254000" indent="-25400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ERC‑8004 standardizes a universal trust signaling layer (Identity • Reputation • Validation).</a:t>
            </a:r>
            <a:endParaRPr lang="en-US" sz="1900" dirty="0"/>
          </a:p>
          <a:p>
            <a:pPr marL="254000" indent="-25400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MONTREAL.AI already runs a deployed application protocol where trust signals gate actions and move value.</a:t>
            </a:r>
            <a:endParaRPr lang="en-US" sz="1900" dirty="0"/>
          </a:p>
          <a:p>
            <a:pPr marL="254000" indent="-25400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combined system makes AGI.Eth agents globally discoverable, comparable, and routable across ecosystems.</a:t>
            </a:r>
            <a:endParaRPr lang="en-US" sz="1900" dirty="0"/>
          </a:p>
          <a:p>
            <a:pPr marL="254000" indent="-25400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Positioning: a reference implementation that turns “trust” into executable settlement.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7040880" y="1874520"/>
            <a:ext cx="4663440" cy="2651760"/>
          </a:xfrm>
          <a:prstGeom prst="round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269480" y="2057400"/>
            <a:ext cx="4206240" cy="22860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ERC‑8004 is the control plane.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MONTREAL.AI is the execution plane.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384048"/>
            <a:ext cx="201168" cy="201168"/>
          </a:xfrm>
          <a:prstGeom prst="diamond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3524" y="411480"/>
            <a:ext cx="201168" cy="201168"/>
          </a:xfrm>
          <a:prstGeom prst="diamond">
            <a:avLst/>
          </a:prstGeom>
          <a:solidFill>
            <a:srgbClr val="FBBF24">
              <a:alpha val="75000"/>
            </a:srgbClr>
          </a:solidFill>
          <a:ln w="12700">
            <a:solidFill>
              <a:srgbClr val="FBBF24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3291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MONTREAL.AI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713232"/>
            <a:ext cx="10765231" cy="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655503" y="646480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66928"/>
            <a:ext cx="1076523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view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13232" y="1133856"/>
            <a:ext cx="107652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7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duplication — translation across planes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51560" y="1828800"/>
            <a:ext cx="10088575" cy="1143000"/>
          </a:xfrm>
          <a:prstGeom prst="roundRect">
            <a:avLst/>
          </a:prstGeom>
          <a:solidFill>
            <a:srgbClr val="0E1024">
              <a:alpha val="9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51560" y="1828800"/>
            <a:ext cx="91440" cy="1143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80160" y="1975104"/>
            <a:ext cx="96313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 A — Agent substrate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304288"/>
            <a:ext cx="9631375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AGI‑Alpha‑Agent‑v0 • AGI‑Alpha‑Node‑v0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Capabilities, tools, orchestration.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67248" y="3044952"/>
            <a:ext cx="457200" cy="292608"/>
          </a:xfrm>
          <a:prstGeom prst="downArrow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51560" y="3383280"/>
            <a:ext cx="10088575" cy="1143000"/>
          </a:xfrm>
          <a:prstGeom prst="roundRect">
            <a:avLst/>
          </a:prstGeom>
          <a:solidFill>
            <a:srgbClr val="0E1024">
              <a:alpha val="9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51560" y="3383280"/>
            <a:ext cx="91440" cy="1143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80160" y="3529584"/>
            <a:ext cx="96313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 B — Trust signaling (ERC‑8004)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858768"/>
            <a:ext cx="9631375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• Reputation • Validation registries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Portable, crawlable, composable signals.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67248" y="4599432"/>
            <a:ext cx="457200" cy="292608"/>
          </a:xfrm>
          <a:prstGeom prst="downArrow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51560" y="4937760"/>
            <a:ext cx="10088575" cy="1143000"/>
          </a:xfrm>
          <a:prstGeom prst="roundRect">
            <a:avLst/>
          </a:prstGeom>
          <a:solidFill>
            <a:srgbClr val="0E1024">
              <a:alpha val="9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51560" y="4937760"/>
            <a:ext cx="91440" cy="11430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80160" y="5084064"/>
            <a:ext cx="96313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 C — Enforcement &amp; settlement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5413248"/>
            <a:ext cx="9631375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AGIJobManager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AuthZ • escrow • validator approvals • disputes • reputation accounting.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6126480"/>
            <a:ext cx="100885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ERC‑8004 makes trust readable.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MONTREAL.AI makes trust enforceable.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384048"/>
            <a:ext cx="201168" cy="201168"/>
          </a:xfrm>
          <a:prstGeom prst="diamond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3524" y="411480"/>
            <a:ext cx="201168" cy="201168"/>
          </a:xfrm>
          <a:prstGeom prst="diamond">
            <a:avLst/>
          </a:prstGeom>
          <a:solidFill>
            <a:srgbClr val="FBBF24">
              <a:alpha val="75000"/>
            </a:srgbClr>
          </a:solidFill>
          <a:ln w="12700">
            <a:solidFill>
              <a:srgbClr val="FBBF24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3291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MONTREAL.AI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713232"/>
            <a:ext cx="10765231" cy="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655503" y="646480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66928"/>
            <a:ext cx="1076523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ERC‑8004 in one slide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13232" y="1133856"/>
            <a:ext cx="107652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7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lightweight registries for discovery + trust signals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1874520"/>
            <a:ext cx="3436010" cy="3977640"/>
          </a:xfrm>
          <a:prstGeom prst="roundRect">
            <a:avLst/>
          </a:prstGeom>
          <a:solidFill>
            <a:srgbClr val="0E1024">
              <a:alpha val="9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33272" y="2194560"/>
            <a:ext cx="512064" cy="51206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33272" y="21945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0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73352" y="2176272"/>
            <a:ext cx="229301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Registry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60704" y="2926080"/>
            <a:ext cx="2795930" cy="26517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>
            <a:normAutofit/>
          </a:bodyPr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ERC‑721 agentId</a:t>
            </a:r>
            <a:endParaRPr lang="en-US" sz="14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agentURI → registration file</a:t>
            </a:r>
            <a:endParaRPr lang="en-US" sz="14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endpoints: A2A, MCP, ENS, DID</a:t>
            </a:r>
            <a:endParaRPr lang="en-US" sz="14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transferable / delegable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77842" y="1874520"/>
            <a:ext cx="3436010" cy="3977640"/>
          </a:xfrm>
          <a:prstGeom prst="roundRect">
            <a:avLst/>
          </a:prstGeom>
          <a:solidFill>
            <a:srgbClr val="0E1024">
              <a:alpha val="9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97882" y="2194560"/>
            <a:ext cx="512064" cy="51206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97882" y="21945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0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37962" y="2176272"/>
            <a:ext cx="229301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Registry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25314" y="2926080"/>
            <a:ext cx="2795930" cy="26517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>
            <a:normAutofit/>
          </a:bodyPr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client feedback (0–100)</a:t>
            </a:r>
            <a:endParaRPr lang="en-US" sz="14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tags + endpoint</a:t>
            </a:r>
            <a:endParaRPr lang="en-US" sz="14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off‑chain URI + integrity hash</a:t>
            </a:r>
            <a:endParaRPr lang="en-US" sz="14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portable reputation trail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42453" y="1874520"/>
            <a:ext cx="3436010" cy="3977640"/>
          </a:xfrm>
          <a:prstGeom prst="roundRect">
            <a:avLst/>
          </a:prstGeom>
          <a:solidFill>
            <a:srgbClr val="0E1024">
              <a:alpha val="9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362493" y="2194560"/>
            <a:ext cx="512064" cy="51206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62493" y="21945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0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002573" y="2176272"/>
            <a:ext cx="229301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Registry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89925" y="2926080"/>
            <a:ext cx="2795930" cy="26517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>
            <a:normAutofit/>
          </a:bodyPr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request/record independent checks</a:t>
            </a:r>
            <a:endParaRPr lang="en-US" sz="14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stake re‑execution, zkML, TEE, judges</a:t>
            </a:r>
            <a:endParaRPr lang="en-US" sz="14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generic hooks; pluggable models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3232" y="6428232"/>
            <a:ext cx="975939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EIP‑8004 (Draft, created 2025‑08‑13). Payments are explicitly orthogonal to the registries.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gi888v14_opt.jpg"/>
          <p:cNvPicPr>
            <a:picLocks noChangeAspect="1"/>
          </p:cNvPicPr>
          <p:nvPr/>
        </p:nvPicPr>
        <p:blipFill>
          <a:blip r:embed="rId3"/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14">
              <a:alpha val="42000"/>
            </a:srgbClr>
          </a:solidFill>
          <a:ln w="12700">
            <a:solidFill>
              <a:srgbClr val="07081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713232" y="384048"/>
            <a:ext cx="201168" cy="201168"/>
          </a:xfrm>
          <a:prstGeom prst="diamond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63524" y="411480"/>
            <a:ext cx="201168" cy="201168"/>
          </a:xfrm>
          <a:prstGeom prst="diamond">
            <a:avLst/>
          </a:prstGeom>
          <a:solidFill>
            <a:srgbClr val="FBBF24">
              <a:alpha val="75000"/>
            </a:srgbClr>
          </a:solidFill>
          <a:ln w="12700">
            <a:solidFill>
              <a:srgbClr val="FBBF24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05840" y="3291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MONTREAL.AI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13232" y="713232"/>
            <a:ext cx="10765231" cy="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655503" y="646480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5/13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3232" y="566928"/>
            <a:ext cx="1076523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MONTREAL.AI already deployed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713232" y="1133856"/>
            <a:ext cx="107652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7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full‑stack agent economy protocol on Ethereum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13232" y="1874520"/>
            <a:ext cx="5897880" cy="822960"/>
          </a:xfrm>
          <a:prstGeom prst="roundRect">
            <a:avLst/>
          </a:prstGeom>
          <a:solidFill>
            <a:srgbClr val="0E1024">
              <a:alpha val="9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13232" y="1874520"/>
            <a:ext cx="91440" cy="8229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14400" y="1984248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AGI‑Alpha‑Agent‑v0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14400" y="2313432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 runtime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13232" y="2898648"/>
            <a:ext cx="5897880" cy="822960"/>
          </a:xfrm>
          <a:prstGeom prst="roundRect">
            <a:avLst/>
          </a:prstGeom>
          <a:solidFill>
            <a:srgbClr val="0E1024">
              <a:alpha val="9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13232" y="2898648"/>
            <a:ext cx="91440" cy="8229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14400" y="3008376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AGIJobsv0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14400" y="333756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Job/task marketplace primitives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13232" y="3922776"/>
            <a:ext cx="5897880" cy="822960"/>
          </a:xfrm>
          <a:prstGeom prst="roundRect">
            <a:avLst/>
          </a:prstGeom>
          <a:solidFill>
            <a:srgbClr val="0E1024">
              <a:alpha val="9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713232" y="3922776"/>
            <a:ext cx="91440" cy="8229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14400" y="4032504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AGI‑Alpha‑Node‑v0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914400" y="4361688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node + endpoints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839712" y="2743200"/>
            <a:ext cx="822960" cy="502920"/>
          </a:xfrm>
          <a:prstGeom prst="rightArrow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7436064" y="1874520"/>
            <a:ext cx="4526280" cy="2743200"/>
          </a:xfrm>
          <a:prstGeom prst="round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618944" y="207568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AGIJobManager (on‑chain)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7618944" y="2587752"/>
            <a:ext cx="4160520" cy="19202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Action‑time identity gating (ENS + Merkle allowlists)</a:t>
            </a:r>
            <a:endParaRPr lang="en-US" sz="14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Escrowed payouts (settlement is executable)</a:t>
            </a:r>
            <a:endParaRPr lang="en-US" sz="14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Validator approvals/disapprovals → state transitions</a:t>
            </a:r>
            <a:endParaRPr lang="en-US" sz="14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Disputes + arbitration (moderator role)</a:t>
            </a:r>
            <a:endParaRPr lang="en-US" sz="14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Reputation accounting + premium thresholds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618944" y="42702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address: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990544" y="4270248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0x0178b6bad606aaf908f72135b8ec32fc1d5ba477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13232" y="6428232"/>
            <a:ext cx="975939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creation: 2024‑06‑28 (Ethereum Mainnet). Source: Etherscan contract creation transaction.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384048"/>
            <a:ext cx="201168" cy="201168"/>
          </a:xfrm>
          <a:prstGeom prst="diamond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3524" y="411480"/>
            <a:ext cx="201168" cy="201168"/>
          </a:xfrm>
          <a:prstGeom prst="diamond">
            <a:avLst/>
          </a:prstGeom>
          <a:solidFill>
            <a:srgbClr val="FBBF24">
              <a:alpha val="75000"/>
            </a:srgbClr>
          </a:solidFill>
          <a:ln w="12700">
            <a:solidFill>
              <a:srgbClr val="FBBF24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3291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MONTREAL.AI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713232"/>
            <a:ext cx="10765231" cy="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655503" y="646480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66928"/>
            <a:ext cx="1076523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mapping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13232" y="1133856"/>
            <a:ext cx="107652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7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ERC‑8004 registries vs MONTREAL.AI on‑chain execution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1783080"/>
            <a:ext cx="10765231" cy="1131570"/>
          </a:xfrm>
          <a:prstGeom prst="roundRect">
            <a:avLst/>
          </a:prstGeom>
          <a:solidFill>
            <a:srgbClr val="0E1024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1832" y="1947672"/>
            <a:ext cx="4354729" cy="9486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ERC‑8004 (signals)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570881" y="1947672"/>
            <a:ext cx="5861862" cy="9486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MONTREAL.AI (execution)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342281" y="1783080"/>
            <a:ext cx="0" cy="452628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13232" y="2914650"/>
            <a:ext cx="10765231" cy="1131570"/>
          </a:xfrm>
          <a:prstGeom prst="rect">
            <a:avLst/>
          </a:prstGeom>
          <a:solidFill>
            <a:srgbClr val="0E1024">
              <a:alpha val="8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13232" y="2914650"/>
            <a:ext cx="82296" cy="113157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77824" y="3024378"/>
            <a:ext cx="1143000" cy="994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39112" y="3024378"/>
            <a:ext cx="3120289" cy="99441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ERC‑721 agentId + agentURI → registration file; discoverable agent directory.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570881" y="3024378"/>
            <a:ext cx="5816142" cy="99441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Action‑time authorization via ENS/Merkle; explicit agent/validator roles; blacklists.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13232" y="4046220"/>
            <a:ext cx="10765231" cy="1131570"/>
          </a:xfrm>
          <a:prstGeom prst="rect">
            <a:avLst/>
          </a:prstGeom>
          <a:solidFill>
            <a:srgbClr val="0E1024">
              <a:alpha val="7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3232" y="4046220"/>
            <a:ext cx="82296" cy="113157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77824" y="4155948"/>
            <a:ext cx="1143000" cy="994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039112" y="4155948"/>
            <a:ext cx="3120289" cy="99441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interface for client feedback (0–100) + tags + URIs; portable across apps.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570881" y="4155948"/>
            <a:ext cx="5816142" cy="99441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minted by protocol outcomes (completion + timeliness + payout weight) and used for gating.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13232" y="5177790"/>
            <a:ext cx="10765231" cy="1131570"/>
          </a:xfrm>
          <a:prstGeom prst="rect">
            <a:avLst/>
          </a:prstGeom>
          <a:solidFill>
            <a:srgbClr val="0E1024">
              <a:alpha val="8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13232" y="5177790"/>
            <a:ext cx="82296" cy="113157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77824" y="5287518"/>
            <a:ext cx="1143000" cy="994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039112" y="5287518"/>
            <a:ext cx="3120289" cy="99441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hooks to request/record validator checks (zkML / TEE / re‑exec / judges).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570881" y="5287518"/>
            <a:ext cx="5816142" cy="99441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approvals/disapprovals drive settlement; dispute path with moderator arbitration.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13232" y="6382512"/>
            <a:ext cx="107652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outcome: ERC‑8004 makes trust portable; MONTREAL.AI makes trust executable.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384048"/>
            <a:ext cx="201168" cy="201168"/>
          </a:xfrm>
          <a:prstGeom prst="diamond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3524" y="411480"/>
            <a:ext cx="201168" cy="201168"/>
          </a:xfrm>
          <a:prstGeom prst="diamond">
            <a:avLst/>
          </a:prstGeom>
          <a:solidFill>
            <a:srgbClr val="FBBF24">
              <a:alpha val="75000"/>
            </a:srgbClr>
          </a:solidFill>
          <a:ln w="12700">
            <a:solidFill>
              <a:srgbClr val="FBBF24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3291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MONTREAL.AI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713232"/>
            <a:ext cx="10765231" cy="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655503" y="646480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66928"/>
            <a:ext cx="1076523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signaling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13232" y="1133856"/>
            <a:ext cx="107652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7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MONTREAL.AI turns trust into on‑chain enforcement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2148840"/>
            <a:ext cx="1657045" cy="2148840"/>
          </a:xfrm>
          <a:prstGeom prst="roundRect">
            <a:avLst/>
          </a:prstGeom>
          <a:solidFill>
            <a:srgbClr val="0E1024">
              <a:alpha val="90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13232" y="2148840"/>
            <a:ext cx="1657045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2350008"/>
            <a:ext cx="1437589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Job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77824" y="2971800"/>
            <a:ext cx="1327861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payout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333701" y="3095244"/>
            <a:ext cx="237744" cy="256032"/>
          </a:xfrm>
          <a:prstGeom prst="rightArrow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34869" y="2148840"/>
            <a:ext cx="1657045" cy="2148840"/>
          </a:xfrm>
          <a:prstGeom prst="roundRect">
            <a:avLst/>
          </a:prstGeom>
          <a:solidFill>
            <a:srgbClr val="0E1024">
              <a:alpha val="90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34869" y="2148840"/>
            <a:ext cx="165704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644597" y="2350008"/>
            <a:ext cx="1437589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/ Assign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99461" y="2971800"/>
            <a:ext cx="1327861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AuthZ gate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55338" y="3095244"/>
            <a:ext cx="237744" cy="256032"/>
          </a:xfrm>
          <a:prstGeom prst="rightArrow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356506" y="2148840"/>
            <a:ext cx="1657045" cy="2148840"/>
          </a:xfrm>
          <a:prstGeom prst="roundRect">
            <a:avLst/>
          </a:prstGeom>
          <a:solidFill>
            <a:srgbClr val="0E1024">
              <a:alpha val="90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356506" y="2148840"/>
            <a:ext cx="1657045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466234" y="2350008"/>
            <a:ext cx="1437589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Completion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21098" y="2971800"/>
            <a:ext cx="1327861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transition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76976" y="3095244"/>
            <a:ext cx="237744" cy="256032"/>
          </a:xfrm>
          <a:prstGeom prst="rightArrow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178144" y="2148840"/>
            <a:ext cx="1657045" cy="2148840"/>
          </a:xfrm>
          <a:prstGeom prst="roundRect">
            <a:avLst/>
          </a:prstGeom>
          <a:solidFill>
            <a:srgbClr val="0E1024">
              <a:alpha val="90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78144" y="2148840"/>
            <a:ext cx="1657045" cy="73152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87872" y="2350008"/>
            <a:ext cx="1437589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/ Disapprove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42736" y="2971800"/>
            <a:ext cx="1327861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Quorum logic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798613" y="3095244"/>
            <a:ext cx="237744" cy="256032"/>
          </a:xfrm>
          <a:prstGeom prst="rightArrow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999781" y="2148840"/>
            <a:ext cx="1657045" cy="2148840"/>
          </a:xfrm>
          <a:prstGeom prst="roundRect">
            <a:avLst/>
          </a:prstGeom>
          <a:solidFill>
            <a:srgbClr val="0E1024">
              <a:alpha val="90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999781" y="2148840"/>
            <a:ext cx="1657045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109509" y="2350008"/>
            <a:ext cx="1437589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164373" y="2971800"/>
            <a:ext cx="1327861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 + reputation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20250" y="3095244"/>
            <a:ext cx="237744" cy="256032"/>
          </a:xfrm>
          <a:prstGeom prst="rightArrow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821418" y="2148840"/>
            <a:ext cx="1657045" cy="2148840"/>
          </a:xfrm>
          <a:prstGeom prst="roundRect">
            <a:avLst/>
          </a:prstGeom>
          <a:solidFill>
            <a:srgbClr val="0E1024">
              <a:alpha val="90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821418" y="2148840"/>
            <a:ext cx="1657045" cy="7315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931146" y="2350008"/>
            <a:ext cx="1437589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986010" y="2971800"/>
            <a:ext cx="1327861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Arbitration / refund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13232" y="4617720"/>
            <a:ext cx="10765231" cy="1097280"/>
          </a:xfrm>
          <a:prstGeom prst="roundRect">
            <a:avLst/>
          </a:prstGeom>
          <a:solidFill>
            <a:srgbClr val="0E1024">
              <a:alpha val="9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13232" y="4617720"/>
            <a:ext cx="73152" cy="10972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14400" y="4782312"/>
            <a:ext cx="1044519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14400" y="5148072"/>
            <a:ext cx="10445191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ERC‑8004 records signals. AGIJobManager consumes signals to gate actions, release escrow, update reputation, and resolve disputes — i.e., trust becomes machine‑executable.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Qmaf5mPPxKMzkrysK2v3fkp1VKoqRM9q6BR9qC5GdVzT5H_opt.jpg"/>
          <p:cNvPicPr>
            <a:picLocks noChangeAspect="1"/>
          </p:cNvPicPr>
          <p:nvPr/>
        </p:nvPicPr>
        <p:blipFill>
          <a:blip r:embed="rId3"/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2">
              <a:alpha val="28000"/>
            </a:srgbClr>
          </a:solidFill>
          <a:ln w="12700">
            <a:solidFill>
              <a:srgbClr val="0B0B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713232" y="384048"/>
            <a:ext cx="201168" cy="201168"/>
          </a:xfrm>
          <a:prstGeom prst="diamond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63524" y="411480"/>
            <a:ext cx="201168" cy="201168"/>
          </a:xfrm>
          <a:prstGeom prst="diamond">
            <a:avLst/>
          </a:prstGeom>
          <a:solidFill>
            <a:srgbClr val="FBBF24">
              <a:alpha val="75000"/>
            </a:srgbClr>
          </a:solidFill>
          <a:ln w="12700">
            <a:solidFill>
              <a:srgbClr val="FBBF24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05840" y="3291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MONTREAL.AI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13232" y="713232"/>
            <a:ext cx="10765231" cy="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655503" y="646480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8/13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3232" y="566928"/>
            <a:ext cx="1076523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delegation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713232" y="1133856"/>
            <a:ext cx="107652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7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ERC‑8004 enables signaling; MONTREAL.AI enforces policy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657600" y="3703320"/>
            <a:ext cx="1920240" cy="1920240"/>
          </a:xfrm>
          <a:prstGeom prst="ellipse">
            <a:avLst/>
          </a:prstGeom>
          <a:solidFill>
            <a:srgbClr val="000000">
              <a:alpha val="65000"/>
            </a:srgbClr>
          </a:solidFill>
          <a:ln w="25400">
            <a:solidFill>
              <a:srgbClr val="8B5CF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657600" y="4389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AGIJobManager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005840" y="2331720"/>
            <a:ext cx="2331720" cy="1024128"/>
          </a:xfrm>
          <a:prstGeom prst="roundRect">
            <a:avLst/>
          </a:prstGeom>
          <a:solidFill>
            <a:srgbClr val="0E1024">
              <a:alpha val="8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05840" y="2331720"/>
            <a:ext cx="82296" cy="102412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170432" y="24414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70432" y="2788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989320" y="2331720"/>
            <a:ext cx="2331720" cy="1024128"/>
          </a:xfrm>
          <a:prstGeom prst="roundRect">
            <a:avLst/>
          </a:prstGeom>
          <a:solidFill>
            <a:srgbClr val="0E1024">
              <a:alpha val="8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989320" y="2331720"/>
            <a:ext cx="82296" cy="102412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153912" y="24414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Moderator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153912" y="2788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Arbitration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68680" y="4892040"/>
            <a:ext cx="2331720" cy="1024128"/>
          </a:xfrm>
          <a:prstGeom prst="roundRect">
            <a:avLst/>
          </a:prstGeom>
          <a:solidFill>
            <a:srgbClr val="0E1024">
              <a:alpha val="8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68680" y="4892040"/>
            <a:ext cx="82296" cy="10241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033272" y="50017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033272" y="53492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agentRootNode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989320" y="4892040"/>
            <a:ext cx="2331720" cy="1024128"/>
          </a:xfrm>
          <a:prstGeom prst="roundRect">
            <a:avLst/>
          </a:prstGeom>
          <a:solidFill>
            <a:srgbClr val="0E1024">
              <a:alpha val="8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989320" y="4892040"/>
            <a:ext cx="82296" cy="10241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153912" y="50017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153912" y="53492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clubRootNode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Quorums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337560" y="2834640"/>
            <a:ext cx="640080" cy="118872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629400" y="2834640"/>
            <a:ext cx="0" cy="118872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3246120" y="5413248"/>
            <a:ext cx="731520" cy="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6629400" y="5413248"/>
            <a:ext cx="0" cy="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8549640" y="1874520"/>
            <a:ext cx="2971800" cy="4160520"/>
          </a:xfrm>
          <a:prstGeom prst="round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8732520" y="20574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 primitives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8732520" y="2514600"/>
            <a:ext cx="2697480" cy="33832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22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ENS subdomain ownership (NameWrapper) as identity + delegation</a:t>
            </a:r>
            <a:endParaRPr lang="en-US" sz="1220" dirty="0"/>
          </a:p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22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Merkle allowlists for rapid onboarding</a:t>
            </a:r>
            <a:endParaRPr lang="en-US" sz="1220" dirty="0"/>
          </a:p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22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Blacklists for containment</a:t>
            </a:r>
            <a:endParaRPr lang="en-US" sz="1220" dirty="0"/>
          </a:p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22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Parameter governance + pausability</a:t>
            </a:r>
            <a:endParaRPr lang="en-US" sz="1220" dirty="0"/>
          </a:p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22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ERC‑8004 adds portable agent IDs + trust signals across markets</a:t>
            </a:r>
            <a:endParaRPr lang="en-US" sz="12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gi888v1_opt.jpg"/>
          <p:cNvPicPr>
            <a:picLocks noChangeAspect="1"/>
          </p:cNvPicPr>
          <p:nvPr/>
        </p:nvPicPr>
        <p:blipFill>
          <a:blip r:embed="rId3"/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713232" y="384048"/>
            <a:ext cx="201168" cy="201168"/>
          </a:xfrm>
          <a:prstGeom prst="diamond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63524" y="411480"/>
            <a:ext cx="201168" cy="201168"/>
          </a:xfrm>
          <a:prstGeom prst="diamond">
            <a:avLst/>
          </a:prstGeom>
          <a:solidFill>
            <a:srgbClr val="FBBF24">
              <a:alpha val="75000"/>
            </a:srgbClr>
          </a:solidFill>
          <a:ln w="12700">
            <a:solidFill>
              <a:srgbClr val="FBBF24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05840" y="3291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MONTREAL.AI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13232" y="713232"/>
            <a:ext cx="10765231" cy="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655503" y="646480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9/13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3232" y="566928"/>
            <a:ext cx="1076523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Chronology &amp; prior art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713232" y="1133856"/>
            <a:ext cx="107652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7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precedes standardization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97280" y="3703320"/>
            <a:ext cx="10088575" cy="0"/>
          </a:xfrm>
          <a:prstGeom prst="line">
            <a:avLst/>
          </a:prstGeom>
          <a:noFill/>
          <a:ln w="254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280160" y="3538728"/>
            <a:ext cx="329184" cy="32918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22960" y="2834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85800" y="312724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2017‑08‑08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1440" y="40233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Multi‑Agent AI DAO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disclosure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58688" y="3538728"/>
            <a:ext cx="329184" cy="3291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501488" y="2834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364328" y="312724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2024‑06‑28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769968" y="40233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AGIJobManager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(Mainnet)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0180015" y="3538728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722815" y="2834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9585655" y="312724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2025‑08‑13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991295" y="40233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ERC‑8004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(Draft)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1005840" y="5166360"/>
            <a:ext cx="10180015" cy="1143000"/>
          </a:xfrm>
          <a:prstGeom prst="roundRect">
            <a:avLst/>
          </a:prstGeom>
          <a:solidFill>
            <a:srgbClr val="000000">
              <a:alpha val="62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234440" y="5321808"/>
            <a:ext cx="972281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MONTREAL.AI provides practical prior art: a deployed system where identity gating, reputation, validation and dispute resolution directly control on‑chain settlement. ERC‑8004 then standardizes the portable signaling interfaces that let many such systems interoperate.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13232" y="6428232"/>
            <a:ext cx="975939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MONTREAL.AI Prior Art page (2017); Etherscan contract creation tx (2024‑06‑28); EIP‑8004 (created 2025‑08‑13).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384048"/>
            <a:ext cx="201168" cy="201168"/>
          </a:xfrm>
          <a:prstGeom prst="diamond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3524" y="411480"/>
            <a:ext cx="201168" cy="201168"/>
          </a:xfrm>
          <a:prstGeom prst="diamond">
            <a:avLst/>
          </a:prstGeom>
          <a:solidFill>
            <a:srgbClr val="FBBF24">
              <a:alpha val="75000"/>
            </a:srgbClr>
          </a:solidFill>
          <a:ln w="12700">
            <a:solidFill>
              <a:srgbClr val="FBBF24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3291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MONTREAL.AI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713232"/>
            <a:ext cx="10765231" cy="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655503" y="646480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66928"/>
            <a:ext cx="1076523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ERC‑8004 is strategically useful to MONTREAL.AI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13232" y="1133856"/>
            <a:ext cx="107652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7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converts a strong protocol into an ecosystem‑scale advantage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1828800"/>
            <a:ext cx="5154016" cy="1234440"/>
          </a:xfrm>
          <a:prstGeom prst="roundRect">
            <a:avLst/>
          </a:prstGeom>
          <a:solidFill>
            <a:srgbClr val="0E1024">
              <a:alpha val="9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13232" y="1828800"/>
            <a:ext cx="73152" cy="1234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1993392"/>
            <a:ext cx="4833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at internet scale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833976" cy="5760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AGI.Eth agents become crawlable and selectable by any ERC‑8004 client or marketplace.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24448" y="1828800"/>
            <a:ext cx="5154016" cy="1234440"/>
          </a:xfrm>
          <a:prstGeom prst="roundRect">
            <a:avLst/>
          </a:prstGeom>
          <a:solidFill>
            <a:srgbClr val="0E1024">
              <a:alpha val="9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24448" y="1828800"/>
            <a:ext cx="73152" cy="1234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25616" y="1993392"/>
            <a:ext cx="4833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reputation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25616" y="2359152"/>
            <a:ext cx="4833976" cy="5760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Protocol‑grounded outcomes can be exported as standard reputation signals across ecosystems.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3232" y="3383280"/>
            <a:ext cx="5154016" cy="1234440"/>
          </a:xfrm>
          <a:prstGeom prst="roundRect">
            <a:avLst/>
          </a:prstGeom>
          <a:solidFill>
            <a:srgbClr val="0E1024">
              <a:alpha val="9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3232" y="3383280"/>
            <a:ext cx="73152" cy="12344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3547872"/>
            <a:ext cx="4833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validation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3913632"/>
            <a:ext cx="4833976" cy="5760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becomes legible: zkML/TEE/re‑exec attestations can be surfaced uniformly.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24448" y="3383280"/>
            <a:ext cx="5154016" cy="1234440"/>
          </a:xfrm>
          <a:prstGeom prst="roundRect">
            <a:avLst/>
          </a:prstGeom>
          <a:solidFill>
            <a:srgbClr val="0E1024">
              <a:alpha val="9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324448" y="3383280"/>
            <a:ext cx="7315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25616" y="3547872"/>
            <a:ext cx="4833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advantage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25616" y="3913632"/>
            <a:ext cx="4833976" cy="5760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signals → better matching. Demand routes to high‑trust agents automatically.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13232" y="4937760"/>
            <a:ext cx="10765231" cy="1143000"/>
          </a:xfrm>
          <a:prstGeom prst="roundRect">
            <a:avLst/>
          </a:prstGeom>
          <a:solidFill>
            <a:srgbClr val="0E1024">
              <a:alpha val="9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13232" y="4937760"/>
            <a:ext cx="73152" cy="11430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5102352"/>
            <a:ext cx="1044519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leverage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4400" y="5468112"/>
            <a:ext cx="10445191" cy="4846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MONTREAL.AI can ship reference adapters + indexing, shaping the de‑facto best practices.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13232" y="6263640"/>
            <a:ext cx="10765231" cy="502920"/>
          </a:xfrm>
          <a:prstGeom prst="round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96112" y="6364224"/>
            <a:ext cx="10399471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move: export trust signals → capture cross‑market demand → enforce outcomes on‑chain.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384048"/>
            <a:ext cx="201168" cy="201168"/>
          </a:xfrm>
          <a:prstGeom prst="diamond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3524" y="411480"/>
            <a:ext cx="201168" cy="201168"/>
          </a:xfrm>
          <a:prstGeom prst="diamond">
            <a:avLst/>
          </a:prstGeom>
          <a:solidFill>
            <a:srgbClr val="FBBF24">
              <a:alpha val="75000"/>
            </a:srgbClr>
          </a:solidFill>
          <a:ln w="12700">
            <a:solidFill>
              <a:srgbClr val="FBBF24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3291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MONTREAL.AI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713232"/>
            <a:ext cx="10765231" cy="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655503" y="646480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66928"/>
            <a:ext cx="1076523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blueprint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13232" y="1133856"/>
            <a:ext cx="107652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7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AGI ALPHA leverages ERC‑8004 with minimal surface area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1874520"/>
            <a:ext cx="5257800" cy="4206240"/>
          </a:xfrm>
          <a:prstGeom prst="roundRect">
            <a:avLst/>
          </a:prstGeom>
          <a:solidFill>
            <a:srgbClr val="0E1024">
              <a:alpha val="90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201168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MONTREAL.AI / AGI ALPHA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242316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+ Node + Job protocol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(escrow, validation, reputation, disputes)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1234440" y="3200400"/>
            <a:ext cx="4892040" cy="2697480"/>
          </a:xfrm>
          <a:prstGeom prst="round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417320" y="3383280"/>
            <a:ext cx="4526280" cy="23317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On‑chain anchors:</a:t>
            </a:r>
            <a:endParaRPr lang="en-US" sz="1300" dirty="0"/>
          </a:p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job lifecycle events</a:t>
            </a:r>
            <a:endParaRPr lang="en-US" sz="1300" dirty="0"/>
          </a:p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validator approvals/disapprovals</a:t>
            </a:r>
            <a:endParaRPr lang="en-US" sz="1300" dirty="0"/>
          </a:p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dispute outcomes</a:t>
            </a:r>
            <a:endParaRPr lang="en-US" sz="1300" dirty="0"/>
          </a:p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reputation updates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0" y="1874520"/>
            <a:ext cx="4709160" cy="4206240"/>
          </a:xfrm>
          <a:prstGeom prst="round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66560" y="201168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ERC‑8004 registries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66560" y="2395728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• Reputation • Validation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6766560" y="2880360"/>
            <a:ext cx="4343400" cy="3063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Identity bridge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Mint agentId for *.agi.eth identities; set agentURI with endpoints.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Reputation export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Post standardized feedback anchored to on‑chain job outcomes.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Validation export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Translate validator approvals into ERC‑8004 validation records.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Inbound consumption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Read external signals to route jobs and select counterparties.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5989320" y="3337560"/>
            <a:ext cx="502920" cy="411480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70448" y="37673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" y="6428232"/>
            <a:ext cx="975939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export only minimal, verifiable signals; keep heavy data off‑chain, anchored by hashes and tx references.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384048"/>
            <a:ext cx="201168" cy="201168"/>
          </a:xfrm>
          <a:prstGeom prst="diamond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3524" y="411480"/>
            <a:ext cx="201168" cy="201168"/>
          </a:xfrm>
          <a:prstGeom prst="diamond">
            <a:avLst/>
          </a:prstGeom>
          <a:solidFill>
            <a:srgbClr val="FBBF24">
              <a:alpha val="75000"/>
            </a:srgbClr>
          </a:solidFill>
          <a:ln w="12700">
            <a:solidFill>
              <a:srgbClr val="FBBF24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3291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MONTREAL.AI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713232"/>
            <a:ext cx="10765231" cy="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655503" y="646480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66928"/>
            <a:ext cx="1076523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implementation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13232" y="1133856"/>
            <a:ext cx="107652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7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MONTREAL.AI can operationalize ERC‑8004 for the ecosystem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1874520"/>
            <a:ext cx="3405530" cy="4343400"/>
          </a:xfrm>
          <a:prstGeom prst="roundRect">
            <a:avLst/>
          </a:prstGeom>
          <a:solidFill>
            <a:srgbClr val="0E1024">
              <a:alpha val="9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13232" y="1874520"/>
            <a:ext cx="73152" cy="43434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039112"/>
            <a:ext cx="30854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404872"/>
            <a:ext cx="3085490" cy="3685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Identity minting for AGI.Eth agents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Reputation exporter (job → feedback)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Validation exporter (approvals → records)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Optional inbound trust router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93082" y="1874520"/>
            <a:ext cx="3405530" cy="4343400"/>
          </a:xfrm>
          <a:prstGeom prst="roundRect">
            <a:avLst/>
          </a:prstGeom>
          <a:solidFill>
            <a:srgbClr val="0E1024">
              <a:alpha val="9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93082" y="1874520"/>
            <a:ext cx="73152" cy="4343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94250" y="2039112"/>
            <a:ext cx="30854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+ UX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94250" y="2404872"/>
            <a:ext cx="3085490" cy="3685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Subgraph/indexer for agents + signals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Explorer/dashboard for trust trails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Templates for registration files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Auditable export schemas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72933" y="1874520"/>
            <a:ext cx="3405530" cy="4343400"/>
          </a:xfrm>
          <a:prstGeom prst="roundRect">
            <a:avLst/>
          </a:prstGeom>
          <a:solidFill>
            <a:srgbClr val="0E1024">
              <a:alpha val="9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72933" y="1874520"/>
            <a:ext cx="73152" cy="43434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74101" y="2039112"/>
            <a:ext cx="30854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services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74101" y="2404872"/>
            <a:ext cx="3085490" cy="3685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Validator program (clubRootNode)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Expandable trust models (TEE/zkML)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Dispute playbooks + policies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Optional insurance / staking integrations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13232" y="6309360"/>
            <a:ext cx="10765231" cy="502920"/>
          </a:xfrm>
          <a:prstGeom prst="round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96112" y="6409944"/>
            <a:ext cx="10399471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Star: make ERC‑8004 trust signals “settlement‑grade” through verifiable, protocol‑anchored exports.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gi888v14_opt.jpg"/>
          <p:cNvPicPr>
            <a:picLocks noChangeAspect="1"/>
          </p:cNvPicPr>
          <p:nvPr/>
        </p:nvPicPr>
        <p:blipFill>
          <a:blip r:embed="rId3"/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713232" y="384048"/>
            <a:ext cx="201168" cy="201168"/>
          </a:xfrm>
          <a:prstGeom prst="diamond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63524" y="411480"/>
            <a:ext cx="201168" cy="201168"/>
          </a:xfrm>
          <a:prstGeom prst="diamond">
            <a:avLst/>
          </a:prstGeom>
          <a:solidFill>
            <a:srgbClr val="FBBF24">
              <a:alpha val="75000"/>
            </a:srgbClr>
          </a:solidFill>
          <a:ln w="12700">
            <a:solidFill>
              <a:srgbClr val="FBBF24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05840" y="3291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MONTREAL.AI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68680" y="1920240"/>
            <a:ext cx="10454335" cy="2880360"/>
          </a:xfrm>
          <a:prstGeom prst="round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143000" y="2121408"/>
            <a:ext cx="9905695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portable.</a:t>
            </a:r>
            <a:endParaRPr lang="en-US" sz="4800" dirty="0"/>
          </a:p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executable.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1280160" y="3456432"/>
            <a:ext cx="9631375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ERC‑8004 standardizes the trust signaling layer.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MONTREAL.AI operationalizes it end‑to‑end.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80160" y="4160520"/>
            <a:ext cx="9631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7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AGI.Eth  •  AGI ALPHA  •  MONTREAL.AI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80160" y="4617720"/>
            <a:ext cx="963137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On‑chain: 0x0178b6bad606aaf908f72135b8ec32fc1d5ba477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280160" y="4956048"/>
            <a:ext cx="9631375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D6D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Repos: github.com/MontrealAI/AGI-Alpha-Agent-v0  •  github.com/MontrealAI/AGIJobsv0  •  github.com/MontrealAI/AGI-Alpha-Node-v0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1358</Words>
  <Application>Microsoft Macintosh PowerPoint</Application>
  <PresentationFormat>Widescreen</PresentationFormat>
  <Paragraphs>226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Vincent Boucher</cp:lastModifiedBy>
  <cp:revision>2</cp:revision>
  <dcterms:created xsi:type="dcterms:W3CDTF">2026-01-18T18:38:58Z</dcterms:created>
  <dcterms:modified xsi:type="dcterms:W3CDTF">2026-01-18T19:26:56Z</dcterms:modified>
</cp:coreProperties>
</file>